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เปิดวันด้วยผลลัพธ์ที่ผู้เรียนจะสร้างจริง</a:t>
            </a:r>
          </a:p>
          <a:p>
            <a:endParaRPr/>
          </a:p>
          <a:p>
            <a:r>
              <a:t>Delivery cue: ชี้เส้นทาง Knowledge → Topic → Agent Flow โดยยังไม่ลงรายละเอียด</a:t>
            </a:r>
          </a:p>
          <a:p>
            <a:endParaRPr/>
          </a:p>
          <a:p>
            <a:r>
              <a:t>Daily-life analogy: ฝึกพนักงานหน้าร้านหนึ่งคนให้รู้คู่มือ รับเรื่อง และส่งต่ออย่างปลอดภัย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ทำให้ผู้เรียนเห็นปลายทางก่อนเริ่ม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เตรียมคน เคาน์เตอร์ และทีมหลังร้านให้ต่อกัน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ยืนยันจังหวะวันเรียนและเวลาพัก</a:t>
            </a:r>
          </a:p>
          <a:p>
            <a:endParaRPr/>
          </a:p>
          <a:p>
            <a:r>
              <a:t>Delivery cue: บอกผู้เรียนว่า checkpoint อยู่ในทุก Exercise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วาง workshop story ที่ทุก Exercise ใช้ร่วมกัน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หน้าร้านตอบคำถามหรือเปิดใบรับเรื่อง แล้วส่งหลังร้านเมื่อได้รับการยืนยัน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เปลี่ยนเข้าสู่พื้นฐานและ safety</a:t>
            </a:r>
          </a:p>
          <a:p>
            <a:endParaRPr/>
          </a:p>
          <a:p>
            <a:r>
              <a:t>Delivery cue: ใช้ภาพ checklist เชื่อมกับ readiness gate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แนะนำ building blocks แบบภาพรวม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พนักงานหนึ่งคนต้องมีบัตรงาน คู่มือ แบบฟอร์ม เครื่องมือ และช่องบริการ</a:t>
            </a:r>
          </a:p>
          <a:p>
            <a:endParaRPr/>
          </a:p>
          <a:p>
            <a:r>
              <a:t>Source: https://learn.microsoft.com/microsoft-copilot-studio/fundamentals-what-is-copilot-studio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ลดความเสี่ยงจากการทำงานผิด environment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เอกสารกับทีมหลังร้านต้องอยู่สาขาเดียวกันจึงส่งถึงกัน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กำหนด data boundary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ใช้สินค้าตัวอย่างในห้องฝึก ไม่หยิบของจริงจากหลังร้าน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แยก readiness gates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มีบัตรพนักงานไม่ได้แปลว่ามีกุญแจทุกห้อง</a:t>
            </a:r>
          </a:p>
          <a:p>
            <a:endParaRPr/>
          </a:p>
          <a:p>
            <a:r>
              <a:t>Source: https://learn.microsoft.com/microsoft-copilot-studio/requirements-licensing-subscriptions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เตรียม evidence literacy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ใบเสร็จ บันทึกหลังร้าน และประตูหน้าร้านยืนยันคนละเรื่อง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เปิดช่วง Agent และ Knowledge</a:t>
            </a:r>
          </a:p>
          <a:p>
            <a:endParaRPr/>
          </a:p>
          <a:p>
            <a:r>
              <a:t>Delivery cue: ชี้ว่าคู่มือกับหน้าที่มาก่อน action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นำทางการสร้าง agent แรก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รับพนักงานใหม่เข้าทีมก่อนสอนงานเฉพาะ</a:t>
            </a:r>
          </a:p>
          <a:p>
            <a:endParaRPr/>
          </a:p>
          <a:p>
            <a:r>
              <a:t>Source: https://learn.microsoft.com/microsoft-copilot-studio/fundamentals-what-is-copilot-studio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แยก identity กับ capability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ป้ายชื่อบอกตำแหน่ง ส่วนบัตรงานบอกหน้าที่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สอนโครงสร้าง Instructions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คู่มือพนักงานบอกหลักปฏิบัติ ส่วนประตูกั้นหลังร้านบังคับทางจริง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ตรวจ Exercise 1</a:t>
            </a:r>
          </a:p>
          <a:p>
            <a:endParaRPr/>
          </a:p>
          <a:p>
            <a:r>
              <a:t>Delivery cue: ให้ผู้เรียนอ่านคำตอบของกันและกันหนึ่งตัวอย่าง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แนะนำ source hygiene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วางเฉพาะคู่มือที่อนุมัติไว้หลังเคาน์เตอร์ ไม่วางเฉลยข้อสอบรวมกัน</a:t>
            </a:r>
          </a:p>
          <a:p>
            <a:endParaRPr/>
          </a:p>
          <a:p>
            <a:r>
              <a:t>Source: https://learn.microsoft.com/microsoft-copilot-studio/knowledge-add-file-upload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อธิบาย ingestion sequence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นำหนังสือเข้าชั้น รอจัดหมวด แล้วจึงให้พนักงานหยิบใช้งาน</a:t>
            </a:r>
          </a:p>
          <a:p>
            <a:endParaRPr/>
          </a:p>
          <a:p>
            <a:r>
              <a:t>Source: https://learn.microsoft.com/microsoft-copilot-studio/knowledge-add-file-upload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grounded answer boundary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พนักงานเปิดคู่มือแล้วไม่เจอ จึงไม่เขียนกฎใหม่เอง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ตรวจ Exercise 2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พักช่วงเช้า</a:t>
            </a:r>
          </a:p>
          <a:p>
            <a:endParaRPr/>
          </a:p>
          <a:p>
            <a:r>
              <a:t>Delivery cue: เตือนเวลาเริ่ม 10:30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เปิดช่วง Topic</a:t>
            </a:r>
          </a:p>
          <a:p>
            <a:endParaRPr/>
          </a:p>
          <a:p>
            <a:r>
              <a:t>Delivery cue: บอกผู้เรียนว่าไม่มี custom Entity ใน lab นี้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แยก generative answer กับ structured path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ตอบคำถามหน้าชั้น กับกรอกใบรับเรื่องเป็นคนละงาน</a:t>
            </a:r>
          </a:p>
          <a:p>
            <a:endParaRPr/>
          </a:p>
          <a:p>
            <a:r>
              <a:t>Source: https://learn.microsoft.com/microsoft-copilot-studio/authoring-topics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ให้ mental model ก่อนคลิกสร้าง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ใบรับเรื่องสั้น ๆ มีจุดเริ่ม ช่องข้อมูล จุดทวน และลายเซ็น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trigger phrases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พูดคำที่เคาน์เตอร์รู้ว่าจะหยิบแบบฟอร์มใบไหน</a:t>
            </a:r>
          </a:p>
          <a:p>
            <a:endParaRPr/>
          </a:p>
          <a:p>
            <a:r>
              <a:t>Source: https://learn.microsoft.com/microsoft-copilot-studio/authoring-triggers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Text variable ตัวแรก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เขียนรหัสบนช่องแรกของแบบฟอร์ม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Text variable ตัวที่สอง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ช่องรายละเอียดควรบอกสิ่งที่เห็น ไม่ใช่เดาสาเหตุ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direct variable insertion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เจ้าหน้าที่อ่านข้อมูลบนใบรับเรื่องกลับให้ผู้แจ้งฟัง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อธิบาย Boolean confirmation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ช่องติ๊กอนุมัติมีสองสถานะ ไม่ใช่กล่องข้อความอิสระ</a:t>
            </a:r>
          </a:p>
          <a:p>
            <a:endParaRPr/>
          </a:p>
          <a:p>
            <a:r>
              <a:t>Source: https://learn.microsoft.com/microsoft-copilot-studio/authoring-ask-a-question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branch control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ลายเซ็นมีจึงส่งหลังร้าน ไม่มีลายเซ็นให้เก็บใบและจบ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ตรวจ Exercise 3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พักกลางวัน</a:t>
            </a:r>
          </a:p>
          <a:p>
            <a:endParaRPr/>
          </a:p>
          <a:p>
            <a:r>
              <a:t>Delivery cue: เตือนให้กลับมาใน environment เดิมเวลา 13:00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เปิดช่วง Agent Flow</a:t>
            </a:r>
          </a:p>
          <a:p>
            <a:endParaRPr/>
          </a:p>
          <a:p>
            <a:r>
              <a:t>Delivery cue: เชื่อมกับ flow Day 1 โดยไม่แก้ของเดิม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สร้าง continuity จาก Day 1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เมื่อวานพนักงานกดส่งเอง วันนี้เคาน์เตอร์ส่งใบให้หลังร้านและรอใบตอบกลับ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อธิบาย decision ที่เลือก build new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https://learn.microsoft.com/microsoft-copilot-studio/flows-overview</a:t>
            </a:r>
          </a:p>
          <a:p>
            <a:r>
              <a:t>Source: https://learn.microsoft.com/microsoft-copilot-studio/flow-modify-use-with-agent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บอกข้อกำหนด existing flow อย่างถูกต้อง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https://learn.microsoft.com/microsoft-copilot-studio/flows-overview</a:t>
            </a:r>
          </a:p>
          <a:p>
            <a:r>
              <a:t>Source: https://learn.microsoft.com/microsoft-copilot-studio/flow-modify-use-with-agent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กำหนด interface ของ flow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ใบส่งงานมีสองช่องเข้าและหนึ่งช่องตอบกลับ</a:t>
            </a:r>
          </a:p>
          <a:p>
            <a:endParaRPr/>
          </a:p>
          <a:p>
            <a:r>
              <a:t>Source: https://learn.microsoft.com/microsoft-copilot-studio/flows-overview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สอนโครงสร้าง flow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https://learn.microsoft.com/microsoft-copilot-studio/flow-modify-use-with-agent</a:t>
            </a:r>
          </a:p>
          <a:p>
            <a:r>
              <a:t>Source: https://learn.microsoft.com/connectors/office365/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Topic-to-flow mapping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ส่งใบให้หลังร้านเฉพาะเมื่อช่องยืนยันถูกติ๊ก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reliable response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ใบตอบกลับบอกว่าส่งเอกสารแล้ว ไม่ได้แปลว่าเปิด ticket 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ตรวจ Exercises 4–5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ตรวจใบส่ง บันทึกหลังร้าน และของที่ถึงปลายทาง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พักช่วงบ่าย</a:t>
            </a:r>
          </a:p>
          <a:p>
            <a:endParaRPr/>
          </a:p>
          <a:p>
            <a:r>
              <a:t>Delivery cue: เตือนเวลาเริ่ม 14:45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เปิดช่วง publishing และ governance</a:t>
            </a:r>
          </a:p>
          <a:p>
            <a:endParaRPr/>
          </a:p>
          <a:p>
            <a:r>
              <a:t>Delivery cue: ใช้ภาพประตูหลายบานอธิบาย channel gate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แยก publication stages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จัดร้านเสร็จไม่ได้แปลว่าประตูหน้าร้านเปิดให้ทุกคน</a:t>
            </a:r>
          </a:p>
          <a:p>
            <a:endParaRPr/>
          </a:p>
          <a:p>
            <a:r>
              <a:t>Source: https://learn.microsoft.com/microsoft-copilot-studio/publication-add-bot-to-microsoft-teams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security boundary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https://learn.microsoft.com/microsoft-copilot-studio/publication-add-bot-to-microsoft-teams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กำหนด published test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ปิด Exercise 6 ด้วย evidence boundary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 Agent Builder alternative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https://learn.microsoft.com/microsoft-365/copilot/extensibility/copilot-studio-experience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อธิบาย natural-language path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https://learn.microsoft.com/microsoft-365/copilot/extensibility/agent-builder-build-agents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อธิบาย Configure path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https://learn.microsoft.com/microsoft-365/copilot/extensibility/agent-builder-build-agents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เปรียบเทียบ authoring options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โต๊ะช่วยงานส่วนตัว กับเคาน์เตอร์บริการที่เชื่อมหลายระบบ</a:t>
            </a:r>
          </a:p>
          <a:p>
            <a:endParaRPr/>
          </a:p>
          <a:p>
            <a:r>
              <a:t>Source: https://learn.microsoft.com/microsoft-365/copilot/extensibility/copilot-studio-experience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สอน decision boundary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https://learn.microsoft.com/microsoft-365/copilot/extensibility/copilot-studio-experience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เปิด AI Builder section</a:t>
            </a:r>
          </a:p>
          <a:p>
            <a:endParaRPr/>
          </a:p>
          <a:p>
            <a:r>
              <a:t>Delivery cue: เชื่อมกับ Day 1 โดยใช้ refrigeration story เดิม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คัดและปรับ Day 1 AI Builder pattern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AI เหมือนผู้ช่วยร่างบันทึก คนยังเป็นผู้ตรวจและผู้ตัดสินใจ</a:t>
            </a:r>
          </a:p>
          <a:p>
            <a:endParaRPr/>
          </a:p>
          <a:p>
            <a:r>
              <a:t>Source: https://learn.microsoft.com/ai-builder/use-a-custom-prompt-in-flow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วาง Day 2 framing และ readiness boundary</a:t>
            </a:r>
          </a:p>
          <a:p>
            <a:endParaRPr/>
          </a:p>
          <a:p>
            <a:r>
              <a:t>Delivery cue: เชื่อมเนื้อหากับเรื่องผู้ช่วยสาขาและหยุดให้ผู้เรียนตรวจความเข้าใจ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  <a:p>
            <a:endParaRPr/>
          </a:p>
          <a:p>
            <a:r>
              <a:t>Source: https://learn.microsoft.com/ai-builder/use-a-custom-prompt-in-flow</a:t>
            </a:r>
          </a:p>
          <a:p>
            <a:r>
              <a:t>Source: https://learn.microsoft.com/ai-builder/administer-licensing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intent: สรุปวันและเปิด Q&amp;A</a:t>
            </a:r>
          </a:p>
          <a:p>
            <a:endParaRPr/>
          </a:p>
          <a:p>
            <a:r>
              <a:t>Delivery cue: ให้ผู้เรียนเล่า journey ด้วยคำของตนเองหนึ่งรอบ</a:t>
            </a:r>
          </a:p>
          <a:p>
            <a:endParaRPr/>
          </a:p>
          <a:p>
            <a:r>
              <a:t>Daily-life analogy: ใช้ภาพงานหน้าร้านเพื่อเชื่อมแนวคิดกับสิ่งที่ผู้เรียนคุ้นเคย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42103" r="1617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36B2CF-F0B9-4000-AE2B-1843A60577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96DC1-6BC5-44BB-89D1-2CC0E716369A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70485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0A8E2-6699-4A56-909F-36B178E20C15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MICROSOFT COPILOT STUDIO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9B55B-CCCE-4EFB-A14B-7F0E6CB023CD}"/>
              </a:ext>
            </a:extLst>
          </p:cNvPr>
          <p:cNvSpPr>
            <a:spLocks noGrp="1"/>
          </p:cNvSpPr>
          <p:nvPr/>
        </p:nvSpPr>
        <p:spPr>
          <a:xfrm>
            <a:off x="628650" y="1476375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96"/>
          </a:bodyPr>
          <a:lstStyle/>
          <a:p>
            <a:pPr algn="l">
              <a:def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539ACF-0767-4FC3-9C99-377D711EC194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381500" cy="1504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สร้างผู้ช่วยสาขา</a:t>
            </a:r>
          </a:p>
          <a:p>
            <a:pPr algn="l"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จากคำตอบสู่การลงมือทำ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F6AC8D-7805-48D5-8BCD-416916EFBC4E}"/>
              </a:ext>
            </a:extLst>
          </p:cNvPr>
          <p:cNvSpPr>
            <a:spLocks noGrp="1"/>
          </p:cNvSpPr>
          <p:nvPr/>
        </p:nvSpPr>
        <p:spPr>
          <a:xfrm>
            <a:off x="647700" y="4000500"/>
            <a:ext cx="4286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Knowledge → Topic → Agent Flow → Approved channel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5CB8C5-FA4B-405F-919F-91E3F5A1CA24}"/>
              </a:ext>
            </a:extLst>
          </p:cNvPr>
          <p:cNvSpPr>
            <a:spLocks noGrp="1"/>
          </p:cNvSpPr>
          <p:nvPr/>
        </p:nvSpPr>
        <p:spPr>
          <a:xfrm>
            <a:off x="628650" y="5076825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CE2F3-C442-4758-8615-CA17F3F302CF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36385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Beginner workshop • 09:00–16:00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D6BD04-546F-4D44-9D68-3098E092ADB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1CC4D-A9A9-4048-A999-B86CE2BBB623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6010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8647F86-39A1-4F37-A132-E9EDAF627A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DA233-DFE9-41F9-8AF2-17B66717866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0BFF58-22C4-4015-9087-7CA64454310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วันนี้เราจะสร้างอะไร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1583C3-70E9-4336-973C-4EC4E3D4536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หนึ่งเรื่องเดียว ตั้งแต่คำถามจนเห็นหลักฐาน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2E16C4-7780-4562-9EB0-71D2D13BD9D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6FA61D-1B56-4874-886D-FC28FB7A902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DF416C-46D3-4DFC-8866-21ECC36B6973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F1083A-CEE6-4EA3-82A1-CBF5F03A3792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F90C37-25F2-484E-A424-4C64E0AA55FB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33C6C-CC5F-4901-A80C-6A455FC4CD30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90E35-21FD-49C2-B26D-3C26D725F4DE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118C3E-C0C2-47A2-A910-91836FFB0157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รู้หน้าที่ ขอบเขต และแหล่งข้อมูลที่อนุมัติ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6D8DDC-B649-4333-BD26-54FF362DA569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CF7D3-C161-48B3-87FA-71D350D3B790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2A0219-938A-463E-81FE-5619F6A17AD5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112EB3-3AA4-4354-8BA3-C7ACD3909322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1A941D-51BA-4DB6-BA31-3A9C11D7376C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44ED52-B6AA-49D4-9D9C-D64B27EC947C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 StoreCode และ IssueDetails แล้วขอ Yes/No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19CDDEF-67AE-44EC-937A-DD62CF6F9E65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0E7D3B-A712-4556-BF2E-4CE4A620F5EC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EC1A0D-A84F-4CDE-AB8F-838BA8623C0F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CD1E15-6A4E-4C05-BF9F-3ACF968C5994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08E64C-F514-47D0-9825-6596C8E0BF53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Flow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4D566C-5F5C-4493-8109-47B4AD027141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ส่งไป mailbox ฝึกและคืน ResponseMessage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29E35B-D7C6-48C3-83BF-006D611AF8CD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0392BE-870B-4CEB-8867-E095E9A02EAB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ผลลัพธ์: ผู้ช่วยสาขารุ่นแรกที่อธิบายได้ ทดสอบได้ และไม่ข้ามคำยืนยัน</a:t>
            </a:r>
          </a:p>
        </p:txBody>
      </p:sp>
    </p:spTree>
    <p:extLst>
      <p:ext uri="{BB962C8B-B14F-4D97-AF65-F5344CB8AC3E}">
        <p14:creationId xmlns:p14="http://schemas.microsoft.com/office/powerpoint/2010/main" val="118833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C6993D4-789C-4691-B6D1-0A70F09FB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9DB80D-7F3F-43C3-A827-A96FDC9E213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711EE-EDB8-48CB-88BF-DD5878BBEA5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09:00–16:00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0B757A-69DE-47BC-B9EC-1A5E68CD6CA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6 Exercises • 330 นาที instruction/activity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1766D-8B31-405E-9155-4FF4F0821DE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ED7A60-9A29-4129-AC30-2E12051A2F5F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4EACF9-3877-4932-9C4A-369E0D86C1AA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FD78A6-5384-44B4-AE9E-8FA6B5F6A737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35C86-891B-4FEC-98F5-D71CCC8A34C9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4A63C4-99DB-4B40-9F59-DB557654F999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09:00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8CEBB2-0605-4F8A-8D82-5334C3D68BDA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Foundations</a:t>
            </a:r>
          </a:p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84D165-A7F5-4E63-90C0-5FB5F606A6E2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DBD01B-D8E7-49CD-9123-190F3DA8ABA0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5B10BE-5B66-46FB-983D-5D0B0F1DF796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3F8F2F-C826-4BD7-8362-C4CB63FB691D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257448-5052-456A-B89A-6F3913652578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10:15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A3D41-8FA6-4B08-B195-7A586A7BAB4B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167210-477C-4E5D-AD06-F380AFF7FA75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B56480-3B8C-4725-B01E-3B42B79A4AB1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E1B236-1091-4F93-8CE4-69568AC0E7DC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C63862-B929-4754-B98D-6E39C4ACDBBD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39B0F6-4855-4AEF-BDE5-F0DE1164EF8D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12:00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531F99-A0E3-4025-ACE1-72E6FED39144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Lunch</a:t>
            </a:r>
          </a:p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Flow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2DB964-DE2B-4542-915C-1C8D1A94F608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82C7A99-FC59-4EB8-9BB1-1DE5B32AD181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6D0A26-1809-4D43-A6D7-7F380882ACF4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5B8C91-8A0D-4F74-BECD-30E1C1E19DC2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37B315-ABDC-462A-9041-729790ED300C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14:30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F3B30-32F5-48FF-A7C8-EADD39BBC118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Publish + alternatives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AE7ADEC-1CB5-4D32-881B-953EC8DCC01A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A95912-A2E5-4B84-825F-4C0D58F866F8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 30 นาที + lunch 60 นาที • จบตรงเวลา 16:00</a:t>
            </a:r>
          </a:p>
        </p:txBody>
      </p:sp>
    </p:spTree>
    <p:extLst>
      <p:ext uri="{BB962C8B-B14F-4D97-AF65-F5344CB8AC3E}">
        <p14:creationId xmlns:p14="http://schemas.microsoft.com/office/powerpoint/2010/main" val="163377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DFCC378-9E42-40D3-B26A-C07516FED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2527FE-6CDF-43F2-B8FA-A38D6AAB0BB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E9AB5-385D-48F1-80BF-52B2B75FCFF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เรื่องเดียวตลอดวัน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00956-AE78-48D0-818C-1D4645B6D8E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ทำงานกับข้อมูลสมมติ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F229C-015B-4921-ACC3-25CB03D3A1B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D4EBD3-EA0C-4AE6-877D-7849DCA9AD8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8F2D85-67F0-4ED6-89E0-15D649DA7030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306394-351A-446C-A3FC-B6C7B7FE16C2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1612F-05E7-4093-B881-868C616CB2B3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4B98C-2A85-42D7-97BE-6698E1137AAA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ถามคู่มือ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8A15C-577A-4DD5-8C07-3FE50A656126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 approved Knowledge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404A0-8EA3-4207-B202-D7632E71E668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B83C42-148D-4C79-ACFE-74F15B010FE6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9B86594-56AF-4CEB-BC9E-F7C395D47002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0F778-81EE-4228-A1D0-F3485CBF2F4D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09315E-58E7-4A74-B735-421F3F4DFE38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แจ้งปัญหา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C98F3-9F86-411A-875C-63CC6DCF9459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เก็บข้อมูลทีละช่อง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49D4CF-06F3-4C0D-BB71-D1E3E2A9840E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E172927-ECE5-4BA1-B487-DB97EF202162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A9CA63-78B4-4835-83B8-F76EBACC2FBF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A50F0B-1874-4709-90D8-78E0A622C026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AB37CE-4B40-4EE3-B5F4-175A792B17EA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ยืนยัน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6F45CB-4522-4F64-AC48-12146A24459D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Boolean Yes/No คุมทางเดิน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4F875-CE71-46B2-9DCB-0B89DF579F5F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942900B-7BAE-4488-9167-D67080D001E5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B6DEC9-E26E-4D73-BD73-DB6C4277992D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8BA25D-A448-4A09-8880-06610590DBBA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AB549B-75CB-4A6E-8ED6-70B6523C55D7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ส่งต่อ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DBA63F-1F46-468A-8309-FBCA44E77E24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Flow ส่งและตอบกลับ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5E27498-0A1A-44B2-ADB6-0DB7A89CDCFF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CB56D3-721E-4E58-9B3E-F4EBC41ADBD9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ไม่เปิด ticket จริง • ไม่อ่าน stock สด • ไม่ใช้ข้อมูลส่วนบุคคล</a:t>
            </a:r>
          </a:p>
        </p:txBody>
      </p:sp>
    </p:spTree>
    <p:extLst>
      <p:ext uri="{BB962C8B-B14F-4D97-AF65-F5344CB8AC3E}">
        <p14:creationId xmlns:p14="http://schemas.microsoft.com/office/powerpoint/2010/main" val="201758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5E5D35-5BED-42D7-9775-B97304CE4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EA5825-EA03-48E9-8D7A-072623225ED8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68580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8BEF1-62CD-4364-8F32-01C1E2B6418D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6508F6-D4F0-4AFB-9001-F43B2D545582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เริ่มจากเคาน์เตอร์ที่ปลอดภัย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2DD65-D576-44DE-950E-5BBD40869A3F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ขอบเขตข้อมูล และหลักฐานก่อนสร้าง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C63626-9AF2-4F50-A8F6-E53139FD6591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00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6DA936-4A41-49B7-90E3-B8F557EB09BD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Foundations • Environment • Safety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8FF697-4872-4BAB-A9F0-721E085F0F2B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10917-6CD8-40E4-8C9D-004D1660A175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77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294A076-8BD3-425B-9F32-E592B3829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01CE73-B5BC-4F36-BBA8-9D38AAD3212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3FB00D-1A92-4236-A413-6946DAA92D8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ประกอบด้วยอะไร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39F6F4-B3D3-499F-AE40-48D9964912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แต่ละชิ้นตอบคำถามคนละแบบ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0F3B6D-B2FF-45A8-A540-CDCE3ECA8ED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0CB9F-3FE6-4690-9E76-9C853E92E12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6299DE-EBE8-4D08-A089-B60EE6FC1EFB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C49C4C-2ED0-4BE0-BE6F-47762B12C788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599868-2152-419A-A576-738F8F86DF11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43A377-1486-425B-B0E0-15704B431DDC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62DAD-60C3-4B77-956F-53D72FE07A73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 + Instructions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57A378-C1F4-4135-9B92-2CC7885BBDC5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บอกว่าเป็นใคร ทำอะไร และหยุดตรงไหน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10EE3F-517C-4285-B9E8-37D91B7F5CD0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6D548F-DAB7-4643-8826-7C432F7146CA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56CE09-F341-41DC-B81D-1327366AA85C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E1D7AC-B0D0-499F-9764-43337E7F5363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96D5D5-C1B1-40B3-B133-68EC8E26077C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D9E790-270B-44D8-A5B8-3D9B97A31172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ให้เนื้อหาที่อนุมัติสำหรับตอบคำถาม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987562-06FE-4376-A47D-3EC9FE094BC2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51BD06-7238-4453-B0E3-2B81D21C8509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842629-C0E6-4C43-AD39-9697490D2E89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0ACFB3-CDD8-48F5-9B46-0D533D23F79E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B61013-58E3-4D50-9EF1-C075826750BE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FC9246-CFA9-4067-A4FC-DCA2505551BA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กำหนดบทสนทนาแบบเป็นขั้นตอน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EB9A2F9-8D96-48AC-AFF4-617AF7F96D7E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87979A-B683-479D-A328-5E73AA395433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8EAEF3-AAAD-44F0-B926-D3D2E7CA2687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9453BD-5995-4C69-A435-249741A84619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77DFA9-1CCC-48A7-909F-F6112C941F51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Tool + Channel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B445A1-BA8B-4BC8-B7DC-A959C4340BD1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ลงมือทำและเปิดให้ผู้ใช้เข้าถึง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3111286-029F-453B-A840-219E8CC25B62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6941D7-75A3-4379-96F8-408C17AE9EDA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ที่ดีไม่ใช่กล่องเดียว แต่เป็นชุดส่วนประกอบที่ตรวจแยกกันได้</a:t>
            </a:r>
          </a:p>
        </p:txBody>
      </p:sp>
    </p:spTree>
    <p:extLst>
      <p:ext uri="{BB962C8B-B14F-4D97-AF65-F5344CB8AC3E}">
        <p14:creationId xmlns:p14="http://schemas.microsoft.com/office/powerpoint/2010/main" val="116077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5416984-FD75-40F8-9BB2-790E965A8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54BA2A-77D7-4E37-A2FC-D1135A2802A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AF16D2-06AA-4306-8D5F-4BFF70B559C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8854D-9E48-4C9B-ADF6-279FC4032F5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Environment คือห้องทำงานร่วมของ Agent, Flow และ Connections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CDB91-FB84-4D76-9452-35DC30C15FD5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184C8-0C7C-4DB0-A2A4-B8025B8189F5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87E6BC3-3E7E-4103-A403-6F12466C0AC7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8852A7-82E1-451B-9018-90F006DA14E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E02CDE-B64E-471E-980D-C45341F06D9F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8DD8EF-ED52-4FB2-8788-76AF0CD9AC0E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68636-B1CD-42D5-B761-5C1B9DDF0A79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ก่อนเริ่ม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DE497-BF67-465A-86CF-175E40505C41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ตรวจชื่อ environment ตามที่วิทยากรประกาศ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334AFE-91B5-4D90-BAD7-7E82A0D87EDB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58ECC-F2E9-4D66-9F77-FC98D1587B5E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6140E5-7F64-4FED-B455-FC7E9BEAF409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375EC5-C828-4F09-9661-0FAB092224E8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533A27-17A8-479A-854E-E25F0211287B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ระหว่างคลาส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C5FD61-C234-4F2A-9D2A-05A87382224F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ไม่สร้างใหม่ ไม่สลับเอง และไม่ย้าย flow ข้าม environment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C5AC913-0A50-4DEA-9A35-26EB1E4A2E29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857B92-BA91-40A3-ACE1-3119D7F1DCA9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23E11E-E1C2-40F7-8957-E935A9E99FB2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6F4791-8D13-4422-BB16-307D0588F8D2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C7B010-FC96-4BC6-8F35-ADB28FA538A3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เมื่อไม่พร้อม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6DA0BB-B3D8-4A57-A3A7-56C50383CB60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หยุด จดข้อความ และใช้ demo path ที่อนุมัติ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1B08C0F-5702-4096-B51A-5B79374AA861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FF5DF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C75ED8-39FA-4B67-BD0C-7E7858CF0443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ชื่อเดียวกันไม่ได้แปลว่าสิทธิ์และ policy เหมือนกัน</a:t>
            </a:r>
          </a:p>
        </p:txBody>
      </p:sp>
    </p:spTree>
    <p:extLst>
      <p:ext uri="{BB962C8B-B14F-4D97-AF65-F5344CB8AC3E}">
        <p14:creationId xmlns:p14="http://schemas.microsoft.com/office/powerpoint/2010/main" val="99487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285E17C-4610-408D-8721-CCBDC6B4F5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3E8F48-FAA7-4029-A1E5-716CCFDEA25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C431F4-3E54-4FC5-B4D0-BE04AB9F380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ข้อมูลที่ใช้ได้ / ใช้ไม่ได้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3A77A-BA9E-4648-B289-813CE935765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ทุกอย่างใน lab ต้อง public-safe และ fictional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5DBC76-8A5C-4079-82EC-D1B1B0E31D9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31BF6-B7E0-4471-B618-3FC7823993A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34C40A-0881-43FA-B80D-4D1641826BB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5C3787-B915-43F9-97CC-F88C0F7D5B1A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6031DE-9D39-4F18-B059-99238073D4A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73FE4C-B2E1-4323-A85F-9F7DC113C7A0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1CAB8D-5C05-4DCB-A9D0-C7DD853D122C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ใช้ในห้องเรียน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2E0CAF-A99A-47E9-9122-FA7A64E42FCC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ไม่ใส่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DB030-11C1-496C-A756-E64911B1783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TRAIN-001 / TRAIN-002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อาการเครื่องพิมพ์ฝึก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กล่องตัวอย่าง 10 /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0AF3A-1CD5-4D3B-9ABC-189DE2661EF9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ชื่อหรือเบอร์ลูกค้า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ยอดขาย รหัสผ่าน เลขบัตร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ข้อมูลระบบจริงของบริษัท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B60A78-28A4-4BB0-9F1B-58F86D248371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ถ้าต้องคิดว่าเปิดเผยได้ไหม ให้เปลี่ยนเป็นข้อมูลสมมติก่อน</a:t>
            </a:r>
          </a:p>
        </p:txBody>
      </p:sp>
    </p:spTree>
    <p:extLst>
      <p:ext uri="{BB962C8B-B14F-4D97-AF65-F5344CB8AC3E}">
        <p14:creationId xmlns:p14="http://schemas.microsoft.com/office/powerpoint/2010/main" val="1961145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B8B4119-A292-4B87-B36B-E7064E96F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CD3EDF-7A1F-47AC-9235-6DB935B413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A0CC82-B43E-4BFC-B1C9-06922544DAD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Readiness มีหลายประตู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8515B-6366-48FC-96A7-4B4EE3AE0BB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เปิดประตูหนึ่งได้ ไม่ได้แปลว่าทุกประตูเปิด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18119C-8FF7-4EE7-91AB-9FFE356B261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55FE3-5EF3-40EF-935A-8F3B828A183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EB2DD5-5165-4597-AE8A-948A51412CA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8EA37-09F0-4283-9E6B-4A8DF6E592AB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230D02-CF09-473F-9C3C-37E2F591C4B5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E1EE7B-D086-40BD-9554-8F7B841D7692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B91ED-D61E-4B95-AE0C-2D9673A140CE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E3409F-1E1B-4F28-A887-A1D0EE3F7C41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Copilot Studio และ capability ที่ต้องใช้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0E82D1E-E0D3-4D5E-AB5C-DA2C7471139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12B6ED-8682-4C66-9F18-542DEFA17F21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13E8ED-A15C-4D7F-BE3D-5B52E8B9ECAF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0B85F4-0008-49EB-BC09-8123DF50035A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8575E5-A054-4761-89D0-4553921C8950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EE22C-55F5-4FC3-A21B-4095C2D6A672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Search/storage และ DLP รองรับ file upload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310820-2601-435E-9277-FB2B27AC7F84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39D2CD-EA2A-4848-B95C-970A6CC318BC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167742-4024-4F65-8BD8-0F221BA1488D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1FC11D-3AB0-49D2-AA69-DBEE9178D0A6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AB09B2-7BAD-44E5-80A7-49DBF7242B06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8DBEE-A323-4BF9-8879-EAB74699EBB7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ส่งถึง mailbox ฝึก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484B5EF-6079-41EB-8F55-C9DD03380C89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C11CF6-DF59-4460-9D27-32B7FDB69018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86F602-FBDC-4019-9D42-44C393C7B51B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50C22C-A296-4376-9ACB-A1D351F6C4C1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23FA9D-F8C3-4663-895F-3E62C0E7B80E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E4B90C-0791-493B-A440-159191315A6B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ผู้ใช้และ admin อนุญาตให้ติดตั้งหรือเปิด agent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F1F53A6-9AAA-4C5D-B23C-EC21707EC7A3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DFC5B5-46C4-417D-91B5-80DC98513EAB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เอกสาร local ผ่าน ≠ tenant พร้อม ≠ participant ผ่าน</a:t>
            </a:r>
          </a:p>
        </p:txBody>
      </p:sp>
    </p:spTree>
    <p:extLst>
      <p:ext uri="{BB962C8B-B14F-4D97-AF65-F5344CB8AC3E}">
        <p14:creationId xmlns:p14="http://schemas.microsoft.com/office/powerpoint/2010/main" val="186864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A715145-67B8-41D1-9C45-B4CEFF3FC4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17A4BD-4651-4C3D-82CD-AE99CE5553F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570508-0DBD-418C-A9D1-222F1EB767C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หลักฐานแต่ละชิ้นตอบคนละคำถาม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48D2A-E75A-4EE3-89B0-AABD7DD6BDE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อย่าใช้หลักฐานชิ้นเดียวสรุปทุกอย่าง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B7E26-BB3B-441D-88F2-152FD39F73A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1D6D8-AED8-459B-878A-E10CAA7BCF7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56067A-DB03-493A-B1C1-E267DC498C8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403C2B-3689-47BC-B48C-42D117F8B2D1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9D141D-B05D-40B8-BE8B-D2CB8D52A99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E6720B-7C7F-43D4-BC9A-D158E634E1C8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A9C272-7750-4B63-A407-4D55ADC2C248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Authoring 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7A09B-26BB-4ECD-B634-70626326B4D6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Deployment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8FA0A3-A2C1-4905-824A-8B64CA100D5C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Test trace: Topic ไหนทำงาน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Flow run: action สำเร็จหรือไม่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Inbox: ปลายทางได้รับหรือไม่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720780-BDA1-4489-81A0-DDE52F3A1676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Published version: บันทึกแล้ว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Channel test: ผู้ใช้จริงเปิดได้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Permission: ใครติดตั้งหรือใช้งานได้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4598B8-DD2C-4F22-ABEC-6243CFCDFB07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พูดว่า passed, pending หรือ demo ให้ตรงกับสิ่งที่เห็น</a:t>
            </a:r>
          </a:p>
        </p:txBody>
      </p:sp>
    </p:spTree>
    <p:extLst>
      <p:ext uri="{BB962C8B-B14F-4D97-AF65-F5344CB8AC3E}">
        <p14:creationId xmlns:p14="http://schemas.microsoft.com/office/powerpoint/2010/main" val="271581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E44423-F92A-4DDC-AE81-4AF88F20A3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C7F1C6-787C-4B6B-A1B4-574B6D6AA525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68580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A5412C-BEA2-47EF-BBF6-EE5082247646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A6EA7-624C-4C8F-813D-01FC9C33AAFB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ฝึกผู้ช่วยหน้าร้าน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43B22-3BA7-4B8B-9673-30FD9C981DB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กำหนดตัวตน Instructions และ Knowledge ก่อนให้ลงมือทำ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4183EF-A3C8-42F9-87BC-D098632B4413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00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3C4E46-FC5F-4C65-89F7-D3F69897C3FE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• Instructions • Knowledge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89CF0E-73C0-425E-854E-6A4ABABCE0A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9CD96F-4717-4FB4-95AE-1F84497AC4D2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0230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E50C03E-CECC-482E-9650-CAC99A3457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954ACB-7477-44AE-89A7-D96892800B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1DE32-D566-4256-8507-52DE74FC85E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Store Support Assistant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F8E98-3D68-4FB9-A610-F7DD9B54985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เริ่มเล็กเพื่อให้เห็นผลเร็ว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4FA2B-E611-4203-823E-1FFDF31EA58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D3FB6D-4562-4F4C-90EB-AB04ABE1BB92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323731-FD27-41B4-B001-E785844224DC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5E3A7B-02D3-4ED4-9821-21007B6DFCBB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D4FF28-8360-45A6-BD3A-FDE27A5C21E5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FD16B-CD42-4138-886A-5F4A99AA2860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Create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7C46D-6340-4749-B65F-2B8FAD36E512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 agent ใน environment ที่กำหนด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2CAFB0-8466-4EFC-B0A7-A6E34A898F63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B575F7-CA13-44C2-8F00-DB1ECCE2C75C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A94205-8FB4-4F45-814D-76C9D4DF3637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E524C-48CB-4EE1-9625-A884FD7BCABA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6C16A-9FE7-4761-846E-7B757998060C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ABD44E-7278-4878-A6CD-F3E683E461C6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- ชื่อเล่น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7CF52B-F30A-480F-90DD-D56DB2786F41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0E03159-6637-4CFC-912D-C8E1C20264CD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D9985D-FBCB-4138-AB7E-57F048BC59F6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491D75-6DCC-4092-A4AE-4768AF221FBE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BE0A29-9D24-47A1-8EDA-395E38FDD0D2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Describe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991E10-5220-4EEE-9C9C-E136D506A932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ช่วยตอบคู่มือและรับเรื่องฝึก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989EF-26AB-4B94-BE8B-4C04E5916D7E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EEB475C-13DA-4C97-BC47-3F226CFD5F2E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87EA9D-4492-4265-8EF7-45DEDE1C4E15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C0EC9D-C760-4631-9FA2-7F6D84F7640D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A1C4F2-5D7B-427E-9544-1B7220CC102B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432009-694C-49C3-9C19-F42E8EA4EAAB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ถามว่า agent นี้ช่วยอะไรได้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B9C94A5-7099-4E96-9EE9-4FDA75090070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FCE579-9B24-4729-8F0D-BEACA02676D2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ยังไม่เพิ่ม Topic หรือ Flow ในขั้นนี้</a:t>
            </a:r>
          </a:p>
        </p:txBody>
      </p:sp>
    </p:spTree>
    <p:extLst>
      <p:ext uri="{BB962C8B-B14F-4D97-AF65-F5344CB8AC3E}">
        <p14:creationId xmlns:p14="http://schemas.microsoft.com/office/powerpoint/2010/main" val="1091073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74CA993-8EB5-4473-8944-AFEC844C1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88EA51-BBCB-411A-89D2-CBE963D4CC0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F1307-5CE1-416B-BE22-1D923C35B32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 มาก่อน capability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2229D-B99F-4358-A221-AE97566E230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บอกผู้ใช้ว่า agent นี้คือใครและไม่ใช่อะไร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E8F7E-B643-4E64-9DE3-81E94EC2FC4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9208F-0940-43C4-B21D-EFFBDE460F18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BDDC90-2C7F-4EC3-A041-ECFBD29E744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23ED7-0E50-4CF6-AA7C-0E28600DB2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CF1E85-A343-4BB5-BCA1-2458333395AD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CB118-6168-4FC2-98CB-19AF9CBDF3D0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EBA741-7183-4797-A817-E2DFD04EFBC1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ผู้ใช้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E9FBF3-53CC-4079-9D18-99A3E7BF13A0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พนักงานสาขาในสถานการณ์ฝึก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ABF8B73-9915-4395-A6DE-7080B25E5061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D18645-D89E-4ADE-8FDB-E6FD9B800B25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90A457-67E6-4C37-A0C0-3E1E9BFED1CD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CCDC5-E090-463A-917E-1A3436DF3DAE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568106-AF34-423F-A2DD-6A937BB17EEA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งานหลัก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4ACF3-3448-4912-BEAE-7219745F3B4E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ตอบคู่มือและรับรายละเอียดปัญหา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B2C8920-562A-4670-94E7-1EE9EFCAEBD3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EBD228-FE26-42BA-8B97-B7D86A4F240F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10718F-D7CB-44AE-AF7D-3C5463883040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256BFD-BD0E-4796-8DF7-0E170CC80D83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626548-7C2E-4509-A31D-53BCF42FD7DA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ขอบเขต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4E9D65-98B2-44CA-8B52-A564A0494D0C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ไม่ใช่นโยบาย ไม่ใช่ ticket จริง ไม่ใช้ข้อมูลสด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F2903F0-F266-4AFC-A2FC-A0B32C194F84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F8A1A6-1FE3-4020-B4C1-14FE6B7C16A2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ชื่อที่ชัดช่วยตั้งความคาดหวัง แต่ไม่แทน Instructions</a:t>
            </a:r>
          </a:p>
        </p:txBody>
      </p:sp>
    </p:spTree>
    <p:extLst>
      <p:ext uri="{BB962C8B-B14F-4D97-AF65-F5344CB8AC3E}">
        <p14:creationId xmlns:p14="http://schemas.microsoft.com/office/powerpoint/2010/main" val="2004972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BC72DFA-7B76-4281-8B2F-34C6FF6C68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BB28F-A896-46A0-808E-BBE00446515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9FA36-F76E-485A-B829-CA49E10E4EF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คือบัตรงาน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95ED4F-3E99-4528-9CD3-73A070A7226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เขียนสิ่งที่ต้องทำ สิ่งที่ห้ามทำ และเมื่อไรต้องหยุด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23A2D-B176-4307-94FB-E1026B2E63F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41510-9440-494B-8FC9-4F966657285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B78190-9572-4103-A844-DD493EA27C4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C2ACD-3EBC-4970-92BC-B1AE84BF8EE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81F1D8-3EE8-4AF2-A984-3A7CD2A4F9AC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A0DFD-3832-48C3-AE39-BAAA346F2F81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AFD50D-95C2-4D3E-B055-5983B7877E8B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2CFC-F0DC-4CA0-AAE9-CEBCF4391AD9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ช่วยตอบและเก็บข้อมูลฝึก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2236897-9914-4F39-963E-AFBAD0136E9F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923CB4-00D4-4D2D-B21D-BE0EDBED9992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440B9C-8B7D-40A2-93D7-EA28C175DBB1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16272C-AAB1-4651-83C0-6DEDC6979EC5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6D0AC-A439-4432-90FE-9C96F4CC0E62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C52AAD-CB9F-471D-BF26-05E8D05E324C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approved Knowledge; ถ้าไม่มีให้บอกตรง ๆ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25C0A0-E099-4F16-9DB6-F9ECF5C5F202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64D3E-603A-4C10-8186-FF0132D23BF6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F5C2AF-5CF2-4322-83EF-EB81CFF973CB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044EAD-444F-4F9F-9181-CCC8DDDE7FDD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7DFF87-1539-4B99-90D1-2913FA57A727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 boundary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D18C8C-E36B-4F0F-9F80-EDAE890D9E11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ส่งเฉพาะหลัง Yes และผ่าน Topic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492010-A846-4A59-8F0F-2B142A435DB5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73949F-72A6-4FA5-AD0B-11D4D4FF7AA2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1768BB-0FD7-494E-9D1E-BAA81D2BA77D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849307-E384-4C02-B0D3-52601B33991A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CE2C2F-3C37-4658-A52D-A95D807D43A4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3B9DBA-BEB3-426C-AC78-DDADA9EE2300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 ไม่รับข้อมูลส่วนบุคคล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B6D9C7-62F8-4BF5-BE5D-2998F7850109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D5A696-E8F5-4299-8567-81D146058F22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ช่วยกำกับพฤติกรรม แต่ Condition ใน Topic เป็นตัวคุม action จริง</a:t>
            </a:r>
          </a:p>
        </p:txBody>
      </p:sp>
    </p:spTree>
    <p:extLst>
      <p:ext uri="{BB962C8B-B14F-4D97-AF65-F5344CB8AC3E}">
        <p14:creationId xmlns:p14="http://schemas.microsoft.com/office/powerpoint/2010/main" val="2129252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6C60C1-B2B6-4456-9852-0943D752E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910319-06BA-4D3B-9307-8A2F5591292D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7AE947-C041-4CF1-B2B3-8032790D80F4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ตัวตนและขอบเขต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45911-477E-4A91-92CF-B4C61AC94402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ทดสอบก่อนใส่ความรู้เพิ่ม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1523D6-E1C8-4F20-8F5C-D124159824FA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A5AFE9-8A40-4015-8CF5-7A5F3CA7A545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89701-270C-49CC-888A-CD805E4420B5}"/>
              </a:ext>
            </a:extLst>
          </p:cNvPr>
          <p:cNvSpPr>
            <a:spLocks noGrp="1"/>
          </p:cNvSpPr>
          <p:nvPr/>
        </p:nvSpPr>
        <p:spPr>
          <a:xfrm>
            <a:off x="1390650" y="24574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คุณช่วยอะไรได้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22210A-98A6-4EF8-AAA3-F53B12CA708D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311FC-9698-43B0-909F-B34AD8407CF9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C4448-F67B-40C1-B839-D1BFF2CE16DE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ถามนอกขอบเขต: ช่วยแนะนำหุ้น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1036E6-2173-4034-8635-93B653DD7F3C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CE637D-CC58-45DF-B7EB-1C616205B561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16E8D5-E0DB-4382-A26A-E09CE65BEFF4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ตรวจ: ไม่อ้างว่าเป็นระบบ ticket จริง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9D59AE-C31E-43DC-BD26-B24942143835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191750" cy="552450"/>
          </a:xfrm>
          <a:prstGeom prst="roundRect">
            <a:avLst>
              <a:gd name="adj" fmla="val 13793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D55F6C-F452-404A-946C-8DF37C36B1C6}"/>
              </a:ext>
            </a:extLst>
          </p:cNvPr>
          <p:cNvSpPr>
            <a:spLocks noGrp="1"/>
          </p:cNvSpPr>
          <p:nvPr/>
        </p:nvSpPr>
        <p:spPr>
          <a:xfrm>
            <a:off x="895350" y="5791200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ผ่านเมื่อ agent บอกขอบเขตได้ชัด โดยไม่สร้างความสามารถที่ยังไม่มี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58682-34BE-499E-A4D3-351BBF681CCF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1B434-BBA0-4DB7-A013-65BE18ADBD9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6580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253898-E7FC-466B-A660-5FD33B85B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EF099-3684-496C-B8C7-BF8D563CD51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69E3A-302F-46BF-9A7C-48AE60F738C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 ที่อนุมัติเท่านั้น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D79DA4-01F1-42F7-9994-5C287EE5C2F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อัปโหลดสองไฟล์ `.txt` ที่ใช้เป็นเนื้อหาฝึก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83C3D-5617-42D2-A1D8-9D60820A84E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CBAC0-847D-447E-A0C1-B7433A1DCCC3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8D6F8F5-78EE-4703-90A2-0F79EAD024BF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14350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35FD26-C937-411D-8F14-915843151C66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DE86CF-8065-4CE6-8A06-F3800501BDDE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821D2-8E42-4951-961E-3F51E562FBFD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430989-FA12-469B-9A2E-30F332CFA590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Store Support Guide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639B3-D226-4856-B6EE-3678927D064F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459105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ขั้นตอนเตรียมข้อมูลและขอบเขตสมมติ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8A4C115-FA91-481F-BBEA-9D9AE61635B4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514350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CC47EB-12BA-426D-BE4F-E86360EC70F5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956A4A-C221-4F39-B325-E7EB4BA9FAE4}"/>
              </a:ext>
            </a:extLst>
          </p:cNvPr>
          <p:cNvSpPr>
            <a:spLocks noGrp="1"/>
          </p:cNvSpPr>
          <p:nvPr/>
        </p:nvSpPr>
        <p:spPr>
          <a:xfrm>
            <a:off x="636270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CC3AE1-801D-4F9D-8F2E-4AFE553D8263}"/>
              </a:ext>
            </a:extLst>
          </p:cNvPr>
          <p:cNvSpPr>
            <a:spLocks noGrp="1"/>
          </p:cNvSpPr>
          <p:nvPr/>
        </p:nvSpPr>
        <p:spPr>
          <a:xfrm>
            <a:off x="63627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667440-BA03-42F3-8256-2B1280314B95}"/>
              </a:ext>
            </a:extLst>
          </p:cNvPr>
          <p:cNvSpPr>
            <a:spLocks noGrp="1"/>
          </p:cNvSpPr>
          <p:nvPr/>
        </p:nvSpPr>
        <p:spPr>
          <a:xfrm>
            <a:off x="6915150" y="23526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Support Terms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10C709-CFCF-406A-BBF0-957DC06EF864}"/>
              </a:ext>
            </a:extLst>
          </p:cNvPr>
          <p:cNvSpPr>
            <a:spLocks noGrp="1"/>
          </p:cNvSpPr>
          <p:nvPr/>
        </p:nvSpPr>
        <p:spPr>
          <a:xfrm>
            <a:off x="6381750" y="2924175"/>
            <a:ext cx="459105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ความหมายของ StoreCode, IssueDetails และ confirmation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96193DA-9EEA-4A6B-96AE-74CCB74A2157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C6B429-9687-4C9C-B8E3-91E7E924F19C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ไม่อัปโหลด Exercise, test cases หรือสไลด์ เพราะจะปนเฉลยกับแหล่งความรู้</a:t>
            </a:r>
          </a:p>
        </p:txBody>
      </p:sp>
    </p:spTree>
    <p:extLst>
      <p:ext uri="{BB962C8B-B14F-4D97-AF65-F5344CB8AC3E}">
        <p14:creationId xmlns:p14="http://schemas.microsoft.com/office/powerpoint/2010/main" val="17468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92D530E-873F-4FA9-AA58-D70F349E04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EC3A9-EDCE-4AD0-91B5-E66C7046FB3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52BD06-C674-4649-803A-217E4895C27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Upload → Describe → Ready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E11A7C-E5B9-4111-B84C-F3429DBE505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สถานะ Ready คือเริ่มทดสอบได้ ไม่ใช่รับรองว่าตอบถูกทุกครั้ง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D6E16-C3D5-4D4D-905B-3589F497854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687E8-BF79-45E2-B34C-D2EEC803D147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726449-7CFF-4DE8-B51D-C90916FAB516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D605F1-CFBA-4873-85BD-A2CEE21028B3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EF6B83-8C7E-4599-9DED-0429B9655A00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937E6-DECA-4464-81D6-BE7F7DA60855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Upload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7FF78-2945-4439-B738-3473DB8FDB96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เลือกไฟล์ฝึกสองไฟล์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1B9263-D53F-4A38-87D8-3C25B0340818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1F099D-5D51-4778-89F9-B7CF877B68ED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2438ADE-7BED-4A28-91C4-43CD4B9D7FD5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32301D-5813-4DB3-B924-EC405F4F6456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CBEC0D-A817-4143-AF1A-8123E6781F62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Describe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186BBD-244F-442E-9C86-4F162F3F579E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บอกว่าใช้ตอบเรื่องใด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5C70B8-D529-4F16-8A47-C614EFDCF4B8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6E60ADD-C450-45BF-8169-FEAA249B40FC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AE2EC6-7AA9-406F-BB17-7A4CB4937647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97A4D4-65E4-4E6B-A29D-52132101E60F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883C0A-56F7-49EA-A797-5C22D5E66C61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Wait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AE2942-0044-42AA-8CCC-62A98E24EB0C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รอแต่ละ source เป็น Ready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AF686F-4FF6-4280-8764-102501231EE3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63D8736-8068-400D-B138-6A9407EF6041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E3A458-F0BD-4D38-BE31-DE56816D35F9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F0F9E6-C1DD-48CC-8DEF-89CEBE9A59A8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2A836C-FA98-4214-AF44-288F4F2F215D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82AC1-ACB7-4F1D-BD5C-E1C01DD6CA19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ลอง supported และ unsupported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EBFDD63-F781-4403-A59D-3C31778CC7FC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C616B0-D0D7-43DB-81A7-A249FC5FE65B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 indexing ช้า ให้ใช้ demo ชั่วคราวและกลับมาตรวจภายหลัง</a:t>
            </a:r>
          </a:p>
        </p:txBody>
      </p:sp>
    </p:spTree>
    <p:extLst>
      <p:ext uri="{BB962C8B-B14F-4D97-AF65-F5344CB8AC3E}">
        <p14:creationId xmlns:p14="http://schemas.microsoft.com/office/powerpoint/2010/main" val="1741717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88D6D24-AC14-46B1-8FCB-3AD3FC2BA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74AC9-077A-4DA9-8632-E9E71871A82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83EBB5-3049-4CC9-B95B-F1B75087027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มีในคู่มือ / ไม่มีในคู่มือ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E682A-A420-4346-A534-C672D37E970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ความซื่อสัตย์ของคำตอบสำคัญกว่าความลื่นไหล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F20C68-7D8B-43EB-A57D-1CDA0B3F59F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492A3-5EC6-46A3-8628-3F5CD68C5C23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A66DD4-0650-4ED2-915D-4AB0D3BDDDC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311FF-79F2-4E91-AF2A-E80F110E3E3D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657CB7-15DB-4EB0-AB18-A4DD3CE8C4DD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02136C-514D-4A19-9BBD-A92BB5B8EFE0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B49BA7-8F99-4222-B713-716F3A0F5C33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Supported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429FEE-55CA-4348-956E-ED203E255E39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Unsupported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705041-4256-4D58-A77E-04A47D57918A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สินค้าตัวอย่างไม่ครบต้องเตรียมอะไร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ตอบจำนวนตามเอกสาร จำนวนที่นับได้ และรายการตัวอย่าง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23443-B1AA-43A2-9EFE-58C5DB0E9761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รับประกันแก้เครื่องพิมพ์กี่ชั่วโมง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บอกว่าไม่พบ SLA ในคู่มือฝึก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DA1D65-D1AF-4798-BC42-2198D92A532E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ไม่พบข้อมูล คือคำตอบที่ดีเมื่อหลักฐานไม่มี</a:t>
            </a:r>
          </a:p>
        </p:txBody>
      </p:sp>
    </p:spTree>
    <p:extLst>
      <p:ext uri="{BB962C8B-B14F-4D97-AF65-F5344CB8AC3E}">
        <p14:creationId xmlns:p14="http://schemas.microsoft.com/office/powerpoint/2010/main" val="222608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7D85426-AFDE-4C44-A903-DA568DC144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90DFA3-FEB5-44AF-A390-D106B0B3994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625F4-5C4B-4A47-BD70-4E0283655AF3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ตรวจคำตอบกับแหล่งที่มา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476A9-7F93-42F5-B1BC-3DE8F92FD249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คำตอบดีต้องย้อนกลับไปหา evidence ได้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51DF50-D3A4-4716-A4A9-0AD61A7C3458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0719AF-92D1-4AA8-B155-531413161793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AFFEC-54E4-4424-9917-176C4BA4CE76}"/>
              </a:ext>
            </a:extLst>
          </p:cNvPr>
          <p:cNvSpPr>
            <a:spLocks noGrp="1"/>
          </p:cNvSpPr>
          <p:nvPr/>
        </p:nvSpPr>
        <p:spPr>
          <a:xfrm>
            <a:off x="1390650" y="24574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K1: คำตอบ supported ตรงกับข้อความในไฟล์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6E832D-458D-4FD5-9C29-1EA6503F6FB6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0D0187-0E40-4C7A-8FE9-96B4925C0451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C7581-4D77-49CF-B9EF-C0A8DE188A94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K2: ไม่มี SLA ที่แต่งขึ้น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26B757-13C7-4676-AC51-09E61EBBA7A0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226DF2-B34C-4BF3-8B53-7CEDCF43CAB3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7A9914-4508-41DD-B4BE-19C270CADBB6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K3: คำถามนอกขอบเขตถูกปฏิเสธอย่างสุภาพ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2734E6-B4EC-4AF5-A806-CCC72499F2B0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191750" cy="552450"/>
          </a:xfrm>
          <a:prstGeom prst="roundRect">
            <a:avLst>
              <a:gd name="adj" fmla="val 13793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119230-AB45-4929-8298-BF151AA018DC}"/>
              </a:ext>
            </a:extLst>
          </p:cNvPr>
          <p:cNvSpPr>
            <a:spLocks noGrp="1"/>
          </p:cNvSpPr>
          <p:nvPr/>
        </p:nvSpPr>
        <p:spPr>
          <a:xfrm>
            <a:off x="895350" y="5791200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ผ่านเมื่ออธิบายได้ว่าคำตอบแต่ละส่วนมาจากที่ใด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27523D-9AF1-4224-9BB2-242B4D7A24C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2DF817-E394-41E2-8DCD-C177E34C31B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4307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0575C8-593A-4F17-AEEA-04E704058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8CC3A2-D00C-44F9-82E4-A6586511D93F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3619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82615-2D22-408F-962A-29D8DD82B0A7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10:15–10:30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1EC8B-DAA4-4620-ADF2-BC4F0D230154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4290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กลับมาแล้วเราจะเปลี่ยนจากการตอบคำถาม ไปเป็นการรับเรื่องแบบมีโครงสร้าง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F175A9-FEDE-4806-A966-9D81D12895D4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E8C9D-3E82-400E-9260-EBCA0353C3F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4652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AD04A55-C130-4854-B029-6FC90FFF5C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8EC04-30CD-4FF4-932D-05414FD37FDB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68580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FE6CE-038B-4FD3-9725-13FBE93E3734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C8660F-27C1-4298-8706-F2E2A69DEDE5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นำบทสนทนาด้วย Topic เดียว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CE074-CBD7-4018-9442-1681B043EAAE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ถามทีละช่อง ทวนข้อมูล และขอ Yes/No อย่างชัดเจน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DB1BA6-5C45-4B57-A1F3-6D25E9FA7688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00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9D32A-D08F-447A-800D-9B90C3C17AEF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StoreCode • IssueDetails • SendConfirmed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1B2374-FEB2-4210-A278-2F447A598D5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3EFD15-6727-41B3-9E5D-EFCA8C0618FB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8005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D95C11-7E4A-44A8-B694-62B20211A8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6DA82-1ABB-42C0-A132-2111E29179A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D8E4F-A93A-48F0-B9C2-9FF2FFC15B5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ทำไมใช้ Topic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CF7B16-CDCD-4697-B252-71F9C646D81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คำตอบจาก Knowledge กับการรับเรื่องมีรูปแบบต่างกัน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49D2BC-235C-4AFB-92AB-D9F3A843948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D0796-6005-4319-9CEE-211741A2543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1FCE49-70ED-47BD-9A64-7799CE3703C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97E36C-4FDA-4CCB-9286-307127CAAAD0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089C0C-DB1C-4695-A287-1DB810D793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5B725FD-7ED5-406C-BC03-A07667414DBB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26EE8C-1F1A-4708-8D8A-653B6289F13A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0937CA-1982-4AA0-8083-3D6F401ED277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545551-4E9F-4CFD-9F14-393EC6A38982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ผู้ใช้ถามข้อมูล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คำตอบอิงไฟล์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ไม่ต้องถามทุกช่อง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5CAED-8EAE-4298-A61F-7B14DB393780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ผู้ใช้ต้องการแจ้งปัญหา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ถามข้อมูลตามลำดับ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มี summary และ confirmation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32D91A-C57C-41C7-AE99-52767D18BAB5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Topic เหมือนแบบฟอร์มที่เจ้าหน้าที่ถามออกเสียง</a:t>
            </a:r>
          </a:p>
        </p:txBody>
      </p:sp>
    </p:spTree>
    <p:extLst>
      <p:ext uri="{BB962C8B-B14F-4D97-AF65-F5344CB8AC3E}">
        <p14:creationId xmlns:p14="http://schemas.microsoft.com/office/powerpoint/2010/main" val="1189036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C387ECE-9C3C-4412-BCC2-29953CB365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775F2-EA91-4B1C-827D-5C0EC6577B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2A3FA-FDD0-4E2F-B155-44D2856C786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Store Support Request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9501B-0A13-4FC7-9CC9-4C4D10B882C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หนึ่ง Topic เห็นทางเดินครบในหน้าเดียว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9AF23-3D7A-4D4D-A35C-93F20E039617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6C57D-F6D7-42CF-AAD0-1B70C27AE527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8CEC3F-8D58-4FB1-B3EC-3B99BD364A7C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89E57-22EC-41E8-92C7-ECE82DBB3459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203CFA-27D4-4D3B-A6F9-6D828245467B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2DA4FD-3ECE-4768-AB05-E539EF645071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Trigger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10331-27E6-48EE-B2E2-E4EB39A30DDB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ข้อความแจ้งปัญหา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878A7D-175D-452F-8104-B24934504056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501AA7-5036-4DD4-80B4-92564B36C59F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37B86B-CCA9-40D3-994B-10CFE3B4625D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5F8FF2-CC7E-44CF-B7E1-D73D517D3401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3205AB-528D-4586-B3A6-6F07E93E6F95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2 Questions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C9C080-9E19-4CC9-8B8F-CAACF9B3E5D4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StoreCode + IssueDetails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33A68E-5802-4AA2-B2A6-0FBC7AAEE0E0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B8EE6B-BBD0-4263-B53B-B5638D62EEF0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212B0B-5204-4B42-B353-054CC1D28579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2F26F9-54E2-4CF5-9398-5C6CEB78E7D5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24E5A9-7F4B-4486-A49D-9CCFE5632BD3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Summary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49F36C-FA02-4B22-977C-5D8202D1E8CE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ทวนข้อมูลที่รับมา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830ACB-11C6-4ED1-8573-6319C3E0C788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037FD99-468E-4B4B-9361-0DFA0C7CC14A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2CCC8A-2251-437E-BD79-755408EB5E31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B06582-541C-4144-AFEE-5ABBF8FA838F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B649C3-47B9-4E3D-96F9-9D1852B95A7A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Yes / No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AA7639-8699-4C61-B879-CABF9B62815C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Boolean + Condition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79A7114-B695-436E-AA4D-C3D06F63BA7F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24D54E-1976-423F-8E75-4350A993F294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เส้นทาง Yes จะต่อ Flow ใน Exercise 5 • No จบโดยไม่ส่ง</a:t>
            </a:r>
          </a:p>
        </p:txBody>
      </p:sp>
    </p:spTree>
    <p:extLst>
      <p:ext uri="{BB962C8B-B14F-4D97-AF65-F5344CB8AC3E}">
        <p14:creationId xmlns:p14="http://schemas.microsoft.com/office/powerpoint/2010/main" val="319062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8285DE7-7BF0-425F-B0D8-F65CF54671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70DA58-194C-4E66-8754-C83B4DD80D0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E7DF1E-E99E-4545-9F29-699F2647D8D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Trigger phrases ที่ตรงไปตรงมา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6CE976-EEE3-4965-8EDC-31F769956FF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ใช้ถ้อยคำที่ผู้เรียนพูดจริงเพื่อเริ่ม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B79F2-D1E3-48A5-BBD0-4DA7496DF16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32B9F3-8B7D-40C3-A60B-9BF0615B72F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ACBA3A-8D67-4EEA-BB84-44DDFA3117C7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0C4AF-04DF-4270-9F3B-FBAB875EF9AF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F71580-A52B-4063-BBB2-5DAD7D849987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49CC4-E696-4AF9-9EA0-D5CEA747DA2C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01CE16-625C-4BE2-82C5-6865CB090A25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ตัวอย่าง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DFA56C-9C9A-47AD-BA81-70582972BB19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ขอแจ้งปัญหาสาขา</a:t>
            </a:r>
          </a:p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ช่วยรับเรื่องปัญหาสาขา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583ABB-AC32-4CB0-9269-0831514D1745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64DAB2-FA67-43FB-9094-AC36C261107B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83D4EC-519F-4E11-8D5F-82866D1B1161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D54FA-47B4-42F2-B62D-149AD324664C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9DE2D-26C1-4638-93B6-3FE501018469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ขอบเขต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7201F7-45F8-47E5-B598-D9ABB1DDA323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คำถามวิธีเตรียมข้อมูลยังตอบจาก Knowledge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809F91F-3248-4EC0-996C-16C5499BA09E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646421-DCCE-4AA4-83F9-3C4A7CDEC06C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0277D4-419B-4577-8128-4B9AF019B060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14C36C-33C7-44A6-B6BE-7658BD7B352D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664323-A086-425B-9207-E0D8418BE1C4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B2E69C-1863-4A6B-B287-1D57EAA54FE0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 conversation ใหม่ก่อนลองแต่ละกรณี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2A8E96D-CC59-42A5-852B-19423E9E1B01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95D884-330E-4404-90BA-D8206425C8D9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Trigger phrase คือป้ายหน้าประตู ไม่ใช่คำตอบทั้งบทสนทนา</a:t>
            </a:r>
          </a:p>
        </p:txBody>
      </p:sp>
    </p:spTree>
    <p:extLst>
      <p:ext uri="{BB962C8B-B14F-4D97-AF65-F5344CB8AC3E}">
        <p14:creationId xmlns:p14="http://schemas.microsoft.com/office/powerpoint/2010/main" val="1083190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118E8D6-2C5D-459F-8B91-40205AA823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830A3-865C-4F1F-9E39-FACDBF9DDB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5715A-139D-4A61-B932-A6E83B75E7D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Question 1 — StoreCode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8064F-3417-42AC-A688-55358DC187B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รับคำตอบทั้งหมดเป็น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088D8-75AE-4BA3-87A2-71D2FF7D4696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3C3F9-6BEE-4982-BB3A-E47768821FF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C8588C-BAA2-4B94-A74D-A8FE3EC862CF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E69A0-52D1-496D-B816-4E89E1F4EC9D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D1B5A6-CFD6-4A8E-83A0-5D7E4CF9798A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AD0009-4C68-4B94-8231-9364A4ADFDB3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37C42D-94D4-44ED-AA14-216B607D4C8D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Prompt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31738-847E-42EE-8627-14143E955766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รหัสสาขาฝึกอะไรครับ เช่น TRAIN-001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C031EB-E012-4F8B-A31F-DC2776367774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D7EB6C-005F-4639-B73A-2965987F9D46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56120E-BF6F-46AA-939A-A137DE29789E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43B1BC-7E8C-413B-B8EC-7C464D3BB6A4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4287D6-3439-45FA-B96E-72664C651629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Identify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2FE1DE-6C14-4EAF-99F9-502697212197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User's entire response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768E6F4-9DB3-4E8C-B08B-37D93E5F35AB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A79C9-C496-40B2-A960-D812261185B3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49B6E0-CEFC-4C26-904C-953A1B59F45D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EE74D0-117F-4AD5-9E60-67895079C82F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A9BAAC-C909-4C22-AC9C-F2225E60D791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 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DEECCB-23B7-4909-BF67-1224755F04D4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StoreCode • Text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8E2D52D-7C60-4C85-8663-D5E53245DF5E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147AA2-9BF1-43B3-997C-EB99CEB8E22C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รับ TRAIN-001 ไม่ได้แปลว่าตรวจพบสาขาจริงในฐานข้อมูล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846685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787D9F6-641D-43BD-970A-329750B473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78144E-794A-4D27-9CED-78C069F45FD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D1E7F-4C24-4A1B-9C90-8903CDAA8E9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Question 2 — IssueDetails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9F4B7-7418-493C-B2AF-9DE313FA57F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ขอตัวอย่างที่ชัดและไม่รับข้อมูลส่วนบุคคล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8B95A-A48D-4AB0-B84F-B63D58EDE4D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B92434-2915-45E3-BEE3-255587EC650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F78AE9-41B6-424A-A31A-99AB2C03E188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7B4E4-A9A4-4539-934B-B54F0C77E82C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46BF80-0BEA-434C-9DE8-36FF69ADB0D0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B6CD-50B0-441A-8769-EB5858556213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B019AB-4163-4EF4-82D9-FA19900A4916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Prompt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25F5F1-5F21-4E78-856D-E798387662DA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กรุณาอธิบายปัญหาโดยไม่ใส่ข้อมูลส่วนบุคคล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0B3826-8BE4-4EF9-ADBA-A420F73F4318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E2DBE3-40E7-4E61-AF0A-DE3CB8705AD3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3C6B02-8EB9-4997-B3B3-CADC29F8C6D8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5BE94C-1DB6-4AAA-94DB-CB6586D4A8AF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075B5C-A47D-4559-A357-9E23E915F5AF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Identify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267B0E-7F3F-4902-9DA7-CEE61CC4F9F8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User's entire response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AE8818F-6F5C-4151-9D9A-1217187F7F17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9193B8-02F3-408B-B3AD-97F77818A9C6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1A6E32-BE64-4C25-A915-1993FDE229F4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3C1B14-A3F7-4F0E-973C-F1C6652CD2F4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98C451-5674-40B2-8D80-A5A7023C3AA8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 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12DCA9-5F55-4342-95C1-A42C345F6C31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 • Text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4332F0A-D8EE-4EA1-B145-031B8F609344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DA4696-F446-4CDD-A379-A81D7760D8E3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ตัวอย่าง: เครื่องพิมพ์ฝึกไม่พิมพ์หลังเริ่มรอบเช้า</a:t>
            </a:r>
          </a:p>
        </p:txBody>
      </p:sp>
    </p:spTree>
    <p:extLst>
      <p:ext uri="{BB962C8B-B14F-4D97-AF65-F5344CB8AC3E}">
        <p14:creationId xmlns:p14="http://schemas.microsoft.com/office/powerpoint/2010/main" val="1612750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691A834-4973-469B-8881-D548EE105E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9951F-25F4-4AB8-B93D-055B0E7025F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CFC0C6-9500-4AFA-8F16-793CFA9286D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แสดง Summary จากตัวแปร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0312B-4520-4A47-8597-7395CE2C8D7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แทรกค่าจาก editor โดยตรง ไม่ต้องเขียน Power Fx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9F4F6-A269-4AA8-A052-D15A589BBE2A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91E82-AF0F-4BFC-B048-B6089789AC37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BB6E0D-8B4E-42A9-ACD1-BADB1ADE7C51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7DA45F-2258-4249-889E-CBD220FCC1C2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B3A480-5725-4838-A2F7-CCC60E5F9984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9B3025-ACAC-44E6-8B70-F814614D007A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946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Message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149ED-F5DD-4809-9668-E0BF53A38386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946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กรุณาตรวจข้อมูลก่อนส่ง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B02F2-AF71-461F-B715-7ED33164A376}"/>
              </a:ext>
            </a:extLst>
          </p:cNvPr>
          <p:cNvSpPr>
            <a:spLocks noGrp="1"/>
          </p:cNvSpPr>
          <p:nvPr/>
        </p:nvSpPr>
        <p:spPr>
          <a:xfrm>
            <a:off x="40322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A8DE62D-F0CA-45BF-83BF-7D1C0936E609}"/>
              </a:ext>
            </a:extLst>
          </p:cNvPr>
          <p:cNvSpPr>
            <a:spLocks noGrp="1"/>
          </p:cNvSpPr>
          <p:nvPr/>
        </p:nvSpPr>
        <p:spPr>
          <a:xfrm>
            <a:off x="4241800" y="236220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07D16C-505D-47D4-9473-9E3EC3437F9E}"/>
              </a:ext>
            </a:extLst>
          </p:cNvPr>
          <p:cNvSpPr>
            <a:spLocks noGrp="1"/>
          </p:cNvSpPr>
          <p:nvPr/>
        </p:nvSpPr>
        <p:spPr>
          <a:xfrm>
            <a:off x="44704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626A1-C385-48AB-A447-55AD1406ED0A}"/>
              </a:ext>
            </a:extLst>
          </p:cNvPr>
          <p:cNvSpPr>
            <a:spLocks noGrp="1"/>
          </p:cNvSpPr>
          <p:nvPr/>
        </p:nvSpPr>
        <p:spPr>
          <a:xfrm>
            <a:off x="44704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BFE1C3-C454-48CA-9846-065303F360F6}"/>
              </a:ext>
            </a:extLst>
          </p:cNvPr>
          <p:cNvSpPr>
            <a:spLocks noGrp="1"/>
          </p:cNvSpPr>
          <p:nvPr/>
        </p:nvSpPr>
        <p:spPr>
          <a:xfrm>
            <a:off x="4470400" y="3219450"/>
            <a:ext cx="2946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StoreCode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F747B5-13E0-4224-AD9D-463B2589A6B1}"/>
              </a:ext>
            </a:extLst>
          </p:cNvPr>
          <p:cNvSpPr>
            <a:spLocks noGrp="1"/>
          </p:cNvSpPr>
          <p:nvPr/>
        </p:nvSpPr>
        <p:spPr>
          <a:xfrm>
            <a:off x="4470400" y="3848100"/>
            <a:ext cx="2946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แทรก Topic.StoreCode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94DE36-569F-4127-9926-63C74037D293}"/>
              </a:ext>
            </a:extLst>
          </p:cNvPr>
          <p:cNvSpPr>
            <a:spLocks noGrp="1"/>
          </p:cNvSpPr>
          <p:nvPr/>
        </p:nvSpPr>
        <p:spPr>
          <a:xfrm>
            <a:off x="76644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D96476C-929B-4BA6-B194-0FCE657B14A2}"/>
              </a:ext>
            </a:extLst>
          </p:cNvPr>
          <p:cNvSpPr>
            <a:spLocks noGrp="1"/>
          </p:cNvSpPr>
          <p:nvPr/>
        </p:nvSpPr>
        <p:spPr>
          <a:xfrm>
            <a:off x="7874000" y="236220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6B218F1-92D4-4DDA-80AC-0AD80520FDD5}"/>
              </a:ext>
            </a:extLst>
          </p:cNvPr>
          <p:cNvSpPr>
            <a:spLocks noGrp="1"/>
          </p:cNvSpPr>
          <p:nvPr/>
        </p:nvSpPr>
        <p:spPr>
          <a:xfrm>
            <a:off x="810260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2183A-6EF7-48B7-A3E2-655F76F2031D}"/>
              </a:ext>
            </a:extLst>
          </p:cNvPr>
          <p:cNvSpPr>
            <a:spLocks noGrp="1"/>
          </p:cNvSpPr>
          <p:nvPr/>
        </p:nvSpPr>
        <p:spPr>
          <a:xfrm>
            <a:off x="81026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03903A-8562-43C3-A6DB-2111A3AA49A4}"/>
              </a:ext>
            </a:extLst>
          </p:cNvPr>
          <p:cNvSpPr>
            <a:spLocks noGrp="1"/>
          </p:cNvSpPr>
          <p:nvPr/>
        </p:nvSpPr>
        <p:spPr>
          <a:xfrm>
            <a:off x="8102600" y="3219450"/>
            <a:ext cx="2946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IssueDetails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C227AF-E546-4CAF-9E71-A32D38ABC40E}"/>
              </a:ext>
            </a:extLst>
          </p:cNvPr>
          <p:cNvSpPr>
            <a:spLocks noGrp="1"/>
          </p:cNvSpPr>
          <p:nvPr/>
        </p:nvSpPr>
        <p:spPr>
          <a:xfrm>
            <a:off x="8102600" y="3848100"/>
            <a:ext cx="2946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แทรก Topic.IssueDetails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90957B4-DDC1-402F-80E0-15156765C547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29C528-84D2-44BC-AA65-99B5C60C8702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Summary คือกระจกสะท้อนสิ่งที่ผู้ใช้พิมพ์ ไม่ใช่บทวิเคราะห์ของ AI</a:t>
            </a:r>
          </a:p>
        </p:txBody>
      </p:sp>
    </p:spTree>
    <p:extLst>
      <p:ext uri="{BB962C8B-B14F-4D97-AF65-F5344CB8AC3E}">
        <p14:creationId xmlns:p14="http://schemas.microsoft.com/office/powerpoint/2010/main" val="252755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A72952F-8B12-49A4-AF78-EEB9C4A4FF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8ECBE9-302D-4D73-83BA-9058DD82ABB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DA94DC-1B38-4A56-8215-836F36E4FF2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Built-in Yes/No → Boolean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DE8AE8-4B37-471D-AD55-823E8448A2D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คำถามยืนยันต้องเก็บชนิดข้อมูลที่ Condition ใช้ได้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EB04A-970C-43F7-B148-E0AD356491C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935C7-7334-48A4-ABA8-573DD9C1633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5DE661-305B-408D-A251-499194A939D9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90EBB-574D-4D08-9D54-4A75A7615E1D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69A701-FD40-4293-B030-C6122FCCEB59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F959B4-603B-479A-9DF4-18F8E08FC0F5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3E96F9-11FB-4F1B-9DC8-7E088AB3690E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D420B-1472-46B8-AFEB-2BAD7E6C21E6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ข้อมูลถูกต้องและต้องการส่งหรือไม่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E351C0A-3E0E-4C93-A873-5086299A15E1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C7800-7046-4540-A620-B03303C20417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FACD3C-81B7-43D7-A79F-51D68CD066B7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56F5C4-1ED2-44C1-9FB6-74D54051FFCE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30912D-EB1D-4F03-A8E1-B558ADE7102E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Identify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E8CDFA-59C1-4E88-B56F-8C375819E053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Boolean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01625D7-A416-4A0B-AE8B-5AB2C9910596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608D41-940B-4E1C-A442-34720D38EDA3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B929396-BDE0-4578-BB55-AD936CBC3FC9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E39352-71BB-4A7B-95CF-049A5C265004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1188B8-EC08-4EA8-BC0E-141B0B7E7D80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 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1EC8CB-6391-4DF6-BA0A-943D0A2AACEC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4F6B7EF-FD78-42B3-AD76-72FC5C96B37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C3CB3C-EC21-4409-926F-420A588E52AC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Boolean true ไม่ใช่ข้อความ "true"</a:t>
            </a:r>
          </a:p>
        </p:txBody>
      </p:sp>
    </p:spTree>
    <p:extLst>
      <p:ext uri="{BB962C8B-B14F-4D97-AF65-F5344CB8AC3E}">
        <p14:creationId xmlns:p14="http://schemas.microsoft.com/office/powerpoint/2010/main" val="1025573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97381A5-1A75-462C-B948-E982C72A39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C6C5B-51B7-412D-9BD1-6E645F0B2C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BBC10A-BF13-4248-94FC-70290BA3746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Condition: เดินหน้าหรือยกเลิก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132FB-F249-4228-899F-A2EC68ABFE9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การควบคุมเกิดใน canvas ที่เห็นได้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FE8A8-8E46-43AF-8FBE-9D776BE4CEE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493DFA-A372-4995-8ABB-83BEF85F592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A611800-E989-4272-8160-ECCD8EE12DC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8E68D2-A58F-400B-AC0F-E19C3475594D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76DD0C-9B5C-4B46-9618-ECA4DD10A9E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6097FF-AB1F-47CE-B660-936D1A2D2A5E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D972E9-8F9C-428A-A27D-865A5F246C1C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 / true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B3BBBC-A494-476A-B6C9-76F5CE6FF644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No / false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997A3-CCA1-48C6-84BD-B4E392ECD03B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เตรียมตำแหน่งสำหรับ Flow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Exercise 3 ยังใช้ข้อความ placeholder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Exercise 5 จึงค่อยเชื่อม tool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E28A23-FCB4-4BFF-B6E5-D1D7ABC6852A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บอกว่ายกเลิก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End current topic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ไม่มี tool call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954BF4-555A-40F9-881B-6CB4352555AF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เส้นทาง No ต้องจบสะอาดและไม่มีผลข้างเคียง</a:t>
            </a:r>
          </a:p>
        </p:txBody>
      </p:sp>
    </p:spTree>
    <p:extLst>
      <p:ext uri="{BB962C8B-B14F-4D97-AF65-F5344CB8AC3E}">
        <p14:creationId xmlns:p14="http://schemas.microsoft.com/office/powerpoint/2010/main" val="1304451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D6E1D88-7D2D-4ADF-8832-44AD9DC9E7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E008F-DAD2-4AF0-9D9F-F4DD9D54BD8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8BACA-E666-4587-B4CC-C2BDE141F146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Topic ทำงานครบ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04AF7-46C5-47AB-8D70-5F1643132F7E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ทดสอบสองรอบก่อนมีอีเมลจริง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9A70F6-F04D-4422-B4AF-299BAFCAB048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8C1D3C-222E-477F-AE93-7E7FDF9D9CEB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74642-0FB6-4449-B6FA-EFA130F044EC}"/>
              </a:ext>
            </a:extLst>
          </p:cNvPr>
          <p:cNvSpPr>
            <a:spLocks noGrp="1"/>
          </p:cNvSpPr>
          <p:nvPr/>
        </p:nvSpPr>
        <p:spPr>
          <a:xfrm>
            <a:off x="1390650" y="24574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summary ตรง และเข้าทาง true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6755CE-E841-4DDF-B666-4FA7C51170C3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54F148-20DF-459A-9390-1241DFD1897F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BFB3F9-5C74-4B70-9B0F-7EA3F5DF7593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No: เข้าทางยกเลิกและจบ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DE4E99-8330-4B7F-A1BF-B68C498C60DC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5ABA2-C2F2-441B-9AEA-974DA28E3115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2F30C6-995E-4250-96F1-C86FDCE51F73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ทั้งสองรอบ: ไม่มี tool call หรืออีเมล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8BA2558-19E6-49E0-A006-35C05E96126F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191750" cy="552450"/>
          </a:xfrm>
          <a:prstGeom prst="roundRect">
            <a:avLst>
              <a:gd name="adj" fmla="val 13793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E45AA-CE01-49CB-B2EA-7A8CA3D3E962}"/>
              </a:ext>
            </a:extLst>
          </p:cNvPr>
          <p:cNvSpPr>
            <a:spLocks noGrp="1"/>
          </p:cNvSpPr>
          <p:nvPr/>
        </p:nvSpPr>
        <p:spPr>
          <a:xfrm>
            <a:off x="895350" y="5791200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ผ่านเมื่อ StoreCode, IssueDetails และ SendConfirmed เป็นค่าของรอบปัจจุบัน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02544-26FB-42F4-93ED-4CC69089353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C3AADE-76F3-4D83-AA15-D8B78441E0C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8063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972BAB-A0D9-44BB-952B-953A84B1F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1FBB3-7305-4B43-9C3B-4BBDFE02F67B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3619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พักกลางวัน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945B2C-47FC-43E1-9649-4D8B370D991F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12:00–13:00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0639E-68C6-4EB2-90A0-F6A3983FA0D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4290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ช่วงบ่ายเราจะใช้ action ที่คุ้นเคยจาก Day 1 แล้วเปลี่ยนจุดเริ่มให้ agent เรียก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D60E9-1A94-4175-A0F2-C2C77FCC00B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93859-FA9A-4B1F-BF5F-39F30355D9D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70037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DA9ABE-298C-4F25-BF38-9F38241907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9E229-6AA9-4C6C-94F0-8A75B4B52687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68580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8E3E18-F75B-4ADE-A655-59D0ACA4C4FA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F9C2D2-D607-4F96-9DC0-5FF204DD3E1D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ส่งงานที่ยืนยันแล้วให้หลังร้าน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E3F14-B822-4222-A635-7E1D3209EB6B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 Agent Flow ใหม่ เชื่อม Topic และพิสูจน์ผลจากระบบ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60ECCE-E97D-45EA-8A0F-8C2FF31230D4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00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9A2080-1E73-4043-862F-0030EA87BA56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trigger • Outlook • Response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4FEA3D-1C82-44FB-B999-97A61547E1D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B543A9-426B-4CE4-BDAD-5F3DFEF6201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45238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476269-BC1F-4DDC-995C-772BA7DE0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3CD578-89A5-4D2A-B65C-5F6609D3E8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40BFB-6FC5-44EE-B29A-2BA1D6A7BE2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 → Day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5C029C-B251-4680-8E58-C6F77DAF9B4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Action คุ้นเคย แต่จุดเริ่มและปลายทางเปลี่ยน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E70557-5550-48E6-853F-D537880F63DD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6183E8-42DE-44AA-B90C-782A4ADCB0F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01CA95-8D19-4756-9F24-944FDCB1576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576502-46B0-406B-B01A-3D8D407DDF7D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DA781F-A094-480B-A0EF-95E23E9899C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B2AE34-1250-4C7F-B97A-E80D890004CF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A54CCE-6AFE-4CEF-B314-427295EFA069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Day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69A45F-3330-48D6-A432-11F259CEB222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764E7B-C947-469A-9ADE-8A6DF4B26C84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Manual trigger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Send an email (V2)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ผู้ใช้ดูผลใน run / Inbox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4E20C7-29B8-4E78-B022-4C0B93E6C451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When an agent calls the flow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Send an email (V2)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Respond to the agent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85F3FD-DE78-4962-8C02-26F323E41D74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Manual trigger → Outlook  |  Agent trigger → Outlook → Response</a:t>
            </a:r>
          </a:p>
        </p:txBody>
      </p:sp>
    </p:spTree>
    <p:extLst>
      <p:ext uri="{BB962C8B-B14F-4D97-AF65-F5344CB8AC3E}">
        <p14:creationId xmlns:p14="http://schemas.microsoft.com/office/powerpoint/2010/main" val="93500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1A447EB-A613-45D9-AF54-CB127C942A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B02337-19FD-498B-8A7C-67D3FC4086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457382-726F-4991-BFBF-A719346C4BA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ทำไมสร้าง Flow ใหม่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B9D24-4CB9-4527-801E-80CB15B6555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ให้ผู้เรียนเห็น contract ครบโดยไม่เสี่ยงกับงานเดิม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BA119-5C9F-4C42-98E9-8DDA658E873F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455BB-60B8-48CD-BC09-5C70FE1F1DF8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1A6DEF-1096-4A77-911C-8C8DA6AFBB3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1EE89-CD1B-4CC5-822E-527756E1E371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8B6617-7E11-4837-BAE6-4A50E75F32E6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6E709-8908-4260-824B-E4D231CDC94C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D659C1-4951-4A7C-8045-191F4E8FFE19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ง่ายกว่า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A5D966-A4C8-46D6-9968-E4AF2C4054ED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ไม่ต้องย้าย flow เข้า Solution หรือเปลี่ยน trigger เดิม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C3714F-F939-4E6E-B836-F64C8D3E014A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FB0628-845C-4AC7-876E-9259F666FEB9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F738ED-7CB6-4DEA-AF2A-D6DEB982FCB7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628039-EC96-4546-8C80-55F25E1AAFA8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A5633A-DB9A-435B-9611-89B50BB355A8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ปลอดภัยกว่า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6689ED-691F-42A7-938E-5B1DFD4DB0F1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flow Day 1 ต้นฉบับยังใช้ทบทวนได้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218DD0-0343-4C02-96E0-7A831AF8572C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21BD63-9069-4261-BA39-0B612E0CB06C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899C3B4-5469-40FC-8D69-9345A34FB447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621385-09EE-4105-89B5-F1D2BF2CF9F4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D1AE8C-9B26-4073-84C3-2D1E215E1A3A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ชัดกว่า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08A7AE-38D6-48E7-8EBF-E83AF14AB895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 Agent trigger, Outlook และ Response ตั้งแต่ต้น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2B55BC0-AC39-4421-A764-475133BB6B9C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A35A33-6D6F-4765-A754-D0FCEECCB37E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Instructor อาจสาธิต prepared copy แต่ learner ไม่แก้ original Day 1 flow</a:t>
            </a:r>
          </a:p>
        </p:txBody>
      </p:sp>
    </p:spTree>
    <p:extLst>
      <p:ext uri="{BB962C8B-B14F-4D97-AF65-F5344CB8AC3E}">
        <p14:creationId xmlns:p14="http://schemas.microsoft.com/office/powerpoint/2010/main" val="1699893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6653171-E8C1-47E4-AB94-353A9B060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4F218-2993-4133-A2C5-8A47495790E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08276-89FB-4035-9C9A-B5DA7CA0F66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Optional: ปรับ Existing Flow ต้องพร้อมอะไร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36073-F774-4144-A2FF-5F83862D117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ใช้เป็น instructor note ไม่ใช่ learner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65512-38B3-422B-B14E-B840965D8196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C0118-C99E-427E-AE17-1B056D9F9392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75621B-6247-43E3-877F-44093B0E846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0AC669-7603-40AA-8EE2-5D046D7098C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49C1F4-8189-4538-956F-83C4D730176D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FB734-7D4D-4DBC-846D-8ADEB6D62413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E617CB-AB2D-4FE7-963A-42D3D5A0DC42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Location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F61D4C-CAAC-489F-95CE-522B21C3B74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อยู่ใน Solution และ environment เดียวกับ agent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600F2E-D8BF-4755-9EFE-76216E9C8062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B6B0B8-DBE5-4AB6-8A9E-4B692E3CB360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6CFC6B-EA42-4867-853C-C1CBC1DE57E3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3C95E-3905-41AC-B8F8-F81558AE1A96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3AB16A-B56F-4197-9D39-62D7DFF26EB0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Contract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506E46-B053-48A1-B968-EAB8AA1DA3CD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เปลี่ยน trigger + เพิ่ม Respond to the agent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C413D4-44B6-4D86-88FC-8742E773B5DA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0854FC-9D10-4905-B629-2D7349057F06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06DF566-4FC0-45A0-904E-894EC629A11E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9C073D-AF4E-405B-BF79-8D34D7A69F13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B6EA13-793A-4ED9-9AEC-732A8B76AFA3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Runtime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DB2098-887D-4A35-9CB3-584DF415EEAE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Asynchronous response Off และตอบภายใน Agent Flow limit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5CFFCEA-4CB7-448A-951A-5CC509BA1C3C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9D0FCD-07EE-4F1F-9114-49E372ADAE4E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9B6252-18EF-43FF-89EF-528105F8A7A6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B084B4-F4C6-472F-9078-EA4E14F44A44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A81A4F-6F8E-4313-B1C6-BE584C96077C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Billing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B979EB-1D7A-416A-9B6C-8670A9595D9C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บาง conversion อาจย้อนกลับไม่ได้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A7435EE-69D1-487F-AA36-1604E036CF8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FF5DF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664FB7-4F83-46B7-8CF2-B93D33DCD911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สาธิตบนสำเนาที่เตรียมไว้เท่านั้น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1901780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3135975-5150-4D3D-BE9E-958A558511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BB581F-BF76-4623-88A7-DDC3BC12C7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74BC3-DCE6-49C6-B088-98CC6A6C485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Flow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59BE8-04FC-4D4B-96FD-987CF81E1A8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ชื่อและชนิดข้อมูลต้องตรงกันทั้งสองฝั่ง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5CBA6-2908-4305-A2E0-C335E9227BE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3770F-89EA-4792-9F25-277B2B6EB27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D3BA78-B22C-48D0-8075-9DD27675AE7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24CAD1-42D2-4324-A267-2A1398F6B9C5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FA6A47-2603-4E39-BF69-D7B02FBFCFF7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79B97-A805-4FCD-A030-76AA9EC786BC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047B3-5CBC-4828-8567-5050949D6C6C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StoreCode •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5E1E8-DC91-4AD1-A163-C653B940D430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B61FDF-C968-4830-ACCE-49D9506399D4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B89CF7-D91C-414C-830E-33D0D70B4AF4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7529D3-8A06-4A2E-9851-F5DD35368EFB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B5D75-5235-48AB-A292-E66B54CEAB1E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087840-AC10-4381-A06A-613FD495962A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 •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F6F05A-83C4-49E8-887F-166AF61F5977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F00033E-87C7-4C56-BFBE-A4FC6F84CC9D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456EC2-AEFD-49AA-8D70-82518E76BCE4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B2C836-36B5-48A9-BF52-E84C22842C3D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1B78D3-EC4A-4848-80FE-AC219651A180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B80FC4-37A1-4FDD-8E55-0DC203C4667F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 an email (V2)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88D40-D033-40FA-AFC4-E331C4D8EFDD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226CE38-D269-4974-9C89-148D17E77F8D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50B8334-5B6D-4FBA-AC66-FF4CC8DD6E2C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063E00-CF6A-43B0-B0E1-10833B618019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2E969D-14BF-4EAF-8D5A-1A71704334B4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F4BFA5-589D-4FB4-93D8-EDA02A5554B9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ResponseMessage • Text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2F466D4-DB3B-4583-A0F0-7F70B3581BF4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389DE5-085A-42A5-9EDB-A1EB4B91BD59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To เป็น fixed training mailbox • ไม่มี Recipient input</a:t>
            </a:r>
          </a:p>
        </p:txBody>
      </p:sp>
    </p:spTree>
    <p:extLst>
      <p:ext uri="{BB962C8B-B14F-4D97-AF65-F5344CB8AC3E}">
        <p14:creationId xmlns:p14="http://schemas.microsoft.com/office/powerpoint/2010/main" val="425592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931BC8D-AF70-4FB1-9C96-3C4CA2618F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60E540-4A5A-42C0-A546-BC7BA19EF75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F892D-B2FD-40CF-AC3C-4E1A502104F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Trigger → Outlook → 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222E7D-A587-4548-9F1D-B4DB7E6599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Flow สั้นและตอบกลับแบบ real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374E4-F9EF-4524-A613-16ED109BA0F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1994E-432E-4718-95E7-BDBEC646C6D7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6D0018-2BFC-4D43-B67F-C513F63DA62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1968E0-6F1D-4BE6-9E3C-19CD7209E3CC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4ABDE5-F824-43C3-8A9E-405BF80D9A2E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055E0-27B9-4C41-982C-5777C7A3DA63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trigger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0D4CA-FCF7-4FF3-BE72-D49BEFC32922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 Text 2 ค่า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57CFCE-82AF-422A-86D0-3AEB61F54D24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5AE12D5-3C5C-4128-8AC7-955E589ACFA6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02EF62-E7D3-4C68-B134-C1212E97C405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3811B6-944B-45B4-971A-FDA645153F8B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B4519-AC62-43F4-A421-E072E0C90727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Outlook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F6108C-0D68-464F-B924-25626AF29B6D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ส่งหนึ่งอีเมลไปปลายทางคงที่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A94EC2-29D4-4466-9991-8E55F7922BFA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6BC1F36-B1FF-4D57-AD93-FC508643B83F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988802-4431-43FC-B6BE-A87CA532A367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646DAE-6874-428E-9F23-25BC3F42A1A7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FBFB33-BDE0-4A1D-8101-F1258A9671F0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Respond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078B93-A97C-40FE-8ABD-9D632E42892D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คืน ResponseMessage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6B7C16-042D-46EA-A332-E99F84542DA6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99ABABD-279D-4415-8389-6510CB386C2B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9C2571-7579-438A-95A6-94C2702D19F9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E393EE-B4AC-42B4-8671-CD274FDA42E6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B5CDD7-9C44-459B-B91B-7F37783ABCE8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Settings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37A7EC-8D47-4293-A375-5B146C366982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Asynchronous response = Off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8C1DEA-FFB9-49BD-8CD3-229D32F9CB55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2E2CE1-D037-4AFD-8C11-C42027DAE6E0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อย่าใส่ approval, delay หรือ loop รอผู้ใช้ใน flow นี้</a:t>
            </a:r>
          </a:p>
        </p:txBody>
      </p:sp>
    </p:spTree>
    <p:extLst>
      <p:ext uri="{BB962C8B-B14F-4D97-AF65-F5344CB8AC3E}">
        <p14:creationId xmlns:p14="http://schemas.microsoft.com/office/powerpoint/2010/main" val="1227385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B9AB423-5002-4A9D-8F3F-C4A8679FD1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DC4DF-7ACE-45D1-ADA7-4AD712ED07D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5B483-A1F2-46FF-A4DE-7B1AAE708F6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เชื่อมเฉพาะเส้นทางที่ยืนยัน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26E7E-ED44-4B1F-9061-B46070F6E3F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Condition เป็นประตูควบคุม tool call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EECFC2-3FE5-4930-B8B5-9330C07FA72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A511F-2944-4FD3-9BB7-F6538F4D0C4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B08553-36D2-4CE4-92F6-3EB517DAD65E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D0167A-FD40-476D-9A48-20C6E0D350F7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74696-82A1-42EC-9AAC-767455AD7269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0F9179-6F86-4AE1-870B-A0CC04408627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True 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138B-1500-46B5-A371-440C3FE9E302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ลบ placeholder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263553-6D3A-412A-97CC-6477BEA67EEA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027B21-5387-4229-BF21-1D0F1E0FDB2F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88D8E8-93CD-4DCC-A0D6-785ACF72770A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076CA6-D5DA-41F3-A6BA-154FFB8B4F5C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C4F8E-F15F-42C6-9FF6-1A6785B2FC21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Call flow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888069-8636-418F-99AB-B5A76EB98522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Agent Flow ที่ publish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65CD46-915A-4B81-BD3A-7C0950207819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090D3C4-9292-4407-8543-F644A6A69903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6DA1C6-AD5F-4BDB-B171-76245CBDFE3D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F78F1A-8559-4E3F-A1B7-7C23B6007E21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B1D79F-29A3-4F32-8508-3A43AB52EAAB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Map inputs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AF2983-922B-4645-9CEE-530607439C61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StoreCode + IssueDetails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D83151-91C1-4D26-B751-73267F922029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0D6DA37-0D8E-43C4-A8CC-D34C8D465831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8D8E334-DE9F-45E6-8D17-0C0C93A71A92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1DA349-B1F9-48E2-8846-90BB0A1F68FB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209292-9EA1-46F2-97BE-C588F78737B4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Capture output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AEBB53-1C3F-449B-992A-9B76B0261C11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Topic.ResponseMessage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68408D3-F968-4F2A-8E11-FBDB644E1D1A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1F4ADF-D810-4F6C-A050-C7A8D5A9A31B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False branch ไม่มี tool call และจบที่ข้อความยกเลิก</a:t>
            </a:r>
          </a:p>
        </p:txBody>
      </p:sp>
    </p:spTree>
    <p:extLst>
      <p:ext uri="{BB962C8B-B14F-4D97-AF65-F5344CB8AC3E}">
        <p14:creationId xmlns:p14="http://schemas.microsoft.com/office/powerpoint/2010/main" val="441954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86C9D6E-DEBB-465C-893A-730F8D1E90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09AC61-09BE-4B3A-BDB3-3924B685651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79B1D-6BDA-447B-9918-E332F3A12D0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แสดง ResponseMessage อย่างซื่อสัตย์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4BA0D-7FD8-484C-B67D-5BCC19462BE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ข้อความที่คืนมาบอกผลของ action ที่สำเร็จ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40E12-C6B5-41A8-BADB-C480D90FAB6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D048D-FEA8-4866-A878-74CDC0FB147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84F67E-1519-469B-BABF-6BE0B68C95BE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E1D6F-1B14-40FE-965F-7E31B84DEA7C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95250" cy="35242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D8FDA2-0BBF-4F4D-905D-898DE5EF2450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468F7-250B-4138-8CC7-F80F474C12FA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B0BF8-34ED-448E-969B-495D5AB59C65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1F51D-4F17-4346-BB47-5C34762AF370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คืนข้อความหลัง Send an email (V2) สำเร็จ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788189-F166-4E78-999D-79CE0B0A63B0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5D37AD-6CBE-4F11-A01B-705DBC13C8AB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95250" cy="352425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B69B40-F931-428A-8A21-7124E77DDFAA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AAA45C-E5E2-4159-BD4D-D9828A112B00}"/>
              </a:ext>
            </a:extLst>
          </p:cNvPr>
          <p:cNvSpPr>
            <a:spLocks noGrp="1"/>
          </p:cNvSpPr>
          <p:nvPr/>
        </p:nvSpPr>
        <p:spPr>
          <a:xfrm>
            <a:off x="455295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11513-4EDD-407C-A212-C179438BE70C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558345-73C2-45FA-BF5F-6B3E7F982A36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แทรก Topic.ResponseMessage ใน Message node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D6805A4-80C7-4270-B262-4EE73E71770F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3371850" cy="35242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170424-FAE5-47C3-9E0A-FBAC37E4B525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95250" cy="352425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7D7FD9-EE8E-456A-B42B-ED24A797E78D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81441B-E8E7-44A5-985D-7D7C874D4EE5}"/>
              </a:ext>
            </a:extLst>
          </p:cNvPr>
          <p:cNvSpPr>
            <a:spLocks noGrp="1"/>
          </p:cNvSpPr>
          <p:nvPr/>
        </p:nvSpPr>
        <p:spPr>
          <a:xfrm>
            <a:off x="8229600" y="2371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006A46-C4EA-4411-A2E6-4967D9EC0E60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324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Boundary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3F4D6-82D6-462D-8E2B-682486EE65B5}"/>
              </a:ext>
            </a:extLst>
          </p:cNvPr>
          <p:cNvSpPr>
            <a:spLocks noGrp="1"/>
          </p:cNvSpPr>
          <p:nvPr/>
        </p:nvSpPr>
        <p:spPr>
          <a:xfrm>
            <a:off x="8248650" y="2924175"/>
            <a:ext cx="2819400" cy="2533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ไม่สร้าง ticket number หรือ SLA ที่ระบบไม่มี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3FBA72D-7278-4370-BDFB-39A510609D25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E7656E-5B09-4C13-A4F6-36F05B2976A5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ถ้า email action fail ห้ามคืน success และต้องตรวจ retry ก่อนส่งซ้ำ</a:t>
            </a:r>
          </a:p>
        </p:txBody>
      </p:sp>
    </p:spTree>
    <p:extLst>
      <p:ext uri="{BB962C8B-B14F-4D97-AF65-F5344CB8AC3E}">
        <p14:creationId xmlns:p14="http://schemas.microsoft.com/office/powerpoint/2010/main" val="1583901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8BDCF3-771A-47E4-BB36-24B43E1118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D3AE6F-7EE0-4371-961A-76FB3E5F3D0D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4AD93E-0D23-4A94-A08B-79B1FA1E7099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evidence triangle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D6BD1-5E48-4883-8A7A-6E904C023C7E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Yes และ No ต้องพิสูจน์ด้วยหลักฐานต่างกัน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9D96D7-E0F6-4977-8767-89831AC52C0F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2480C-7845-42D0-9B53-98ADD770ED23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F2E73-B00B-4F3B-823F-AFEEE5240495}"/>
              </a:ext>
            </a:extLst>
          </p:cNvPr>
          <p:cNvSpPr>
            <a:spLocks noGrp="1"/>
          </p:cNvSpPr>
          <p:nvPr/>
        </p:nvSpPr>
        <p:spPr>
          <a:xfrm>
            <a:off x="1390650" y="24574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Test trace มี tool call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16B806-35FE-40A8-B45E-99D018678EEF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3D7045-50AB-47DB-BA19-A53C98ADCEFB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76DFC-70FA-4C0F-BC75-507EF4E8789D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flow run สำเร็จ + Inbox มีหนึ่งฉบับ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DD98FA-4FFE-482B-9C32-2C23085DBE20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09580-E411-4632-812F-58A4707122B8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8848B-7289-48F5-ADAD-391A0E5FDB71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No: ไม่มี tool call, run หรืออีเมลใหม่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EC0A24B-A54C-43C5-B93E-86923B57B9F2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191750" cy="552450"/>
          </a:xfrm>
          <a:prstGeom prst="roundRect">
            <a:avLst>
              <a:gd name="adj" fmla="val 13793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8DA985-C715-4B7E-BFF6-E12EDB710AAA}"/>
              </a:ext>
            </a:extLst>
          </p:cNvPr>
          <p:cNvSpPr>
            <a:spLocks noGrp="1"/>
          </p:cNvSpPr>
          <p:nvPr/>
        </p:nvSpPr>
        <p:spPr>
          <a:xfrm>
            <a:off x="895350" y="5791200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ข้อความของ agent อย่างเดียวไม่ใช่หลักฐานว่าปลายทางได้รับอีเมล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0C1EDD-3FE1-4273-8DC7-DC270A1FE97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D12467-E2BA-4910-B2F3-4EDA630BF7A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09242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08678D-DBE5-4C12-B425-3D7647435A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317A15-ABF9-4F35-A932-D1321373A04D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3619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00927B-8F97-46C9-96F3-04039773A762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14:30–14:45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E0AD0-E360-4771-BF97-81522CBE6BD4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4290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กลับมาแล้วเราจะเปิดเฉพาะ channel ที่อนุมัติ และดูทางเลือก Agent Builder กับ AI Builder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352A9-52FA-42C9-A286-0BC1E9BDA5BF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706136-B26D-4DE4-AB5E-062B71B750E5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070291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1DF07E-B050-4CAF-93C1-455013E6FE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3B6118-584B-4EC4-A191-C89A31806770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68580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03284-4176-49C6-882E-DA865A91507F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CHAPTER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88AFB-3DDB-4136-9BEA-F9E01FE02A7B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เปิดเฉพาะประตูที่อนุมัติ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D8B9E1-C87A-49EC-B004-0E9E1E763462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Publish, access, authentication และ governance ต้องตรวจแยกกัน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7D9BB1-FB4F-433F-B4F4-2A9CC30245E4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000500" cy="514350"/>
          </a:xfrm>
          <a:prstGeom prst="roundRect">
            <a:avLst>
              <a:gd name="adj" fmla="val 14815"/>
            </a:avLst>
          </a:prstGeom>
          <a:solidFill>
            <a:srgbClr val="244D70"/>
          </a:solidFill>
          <a:ln w="9525">
            <a:solidFill>
              <a:srgbClr val="4F8FC0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77B2F-9545-4CB4-9634-F4D4D2513D9F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Published ≠ Available to everyone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AE0400-B034-4E20-877F-EA03BC14B349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EF9F5-AD2F-4B98-AB74-440007CA76F2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230597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34E4BD5-17BD-4A4B-9F5F-66E073A2E4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2B2C8-0062-45B0-A850-B7633858CC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811EE-EDD2-42B7-8768-E5827418D49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 ไม่เท่ากับ Access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DB1A0-C782-40EA-9A7C-D91B5E5B84D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ผู้สร้างเห็น success ได้ แต่ผู้ใช้ยังอาจเข้าไม่ได้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7985B-7F68-437D-AF55-630F4B13F9A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0E703-28BC-4189-971D-E4153EBADD72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AB835E-0F6B-4F50-A82B-D66DF4A53246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EB0E8-C5AE-4BBF-B2C2-C9B760100BA0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384AE8-0B7A-4591-B99E-BE7FC0286B1A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E7FF22-F0DB-4A1A-8EAD-BE420C4A414C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78C9E1-B462-4A85-9A6A-C00D784ADB48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 authoring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172A64-AE17-442A-BEEF-83D013FFAF09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3AB3415-9BCF-43CE-8D7A-60B92E18520D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D0C1D-6C67-49C7-982E-4AB53F25980B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8C40A7-68DC-4CC1-9BBC-BE60F7EEA8BF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F043CE-E123-4D11-8423-90B541E5AA08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BDF193-259B-4EF8-8A19-734911E37C80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สร้างเวอร์ชันพร้อมใช้งาน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A7E1B5-38A9-40FB-AD95-94819D517641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49B7BCB-5076-4311-A541-26500C7122FB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AEE75B-BB30-4C1E-B341-B971DDF86EB2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89CF6D-BB69-44C4-BEE2-4DCC0AD2BED7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D1FA60-C79A-4981-9E33-52DD354C043C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AE72D3-3874-4DDE-8E31-1B1B28526F33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Teams หรือ M365 Copilot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B533DB-03AD-4E8C-A55C-D1FF842E0B88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EA2FEBE-73D4-4EB9-A228-14A5D42979CB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5AEAE1-5639-49B1-9D5B-B87F5E89EEC1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E37FCB-1CEA-4934-A215-FF326F36447D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69E9F7-F50C-4596-8252-6EB78E0D5217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Approval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6A595-75AD-480F-B8C5-120A3E93A866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ผู้ใช้ติดตั้ง/เข้าถึงได้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5A7DFEF-BDA7-462C-8D2C-2C90AEF93C0F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883F33-9D1F-4239-8E05-0970B1543129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 Test panel ไม่ใช่ published-channel proof</a:t>
            </a:r>
          </a:p>
        </p:txBody>
      </p:sp>
    </p:spTree>
    <p:extLst>
      <p:ext uri="{BB962C8B-B14F-4D97-AF65-F5344CB8AC3E}">
        <p14:creationId xmlns:p14="http://schemas.microsoft.com/office/powerpoint/2010/main" val="19418261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B130325-A97B-4821-B112-24893BD8F3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5A1E6-4177-4CD7-AB42-C0CC9E68A2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67D33-FA72-46A7-AE15-855E64424C1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Authentication และ Permissions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BCB57-65C3-4203-8531-F3029DBDAD8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ใช้ค่าที่ IT และผู้จัดอบรมยืนยันเท่านั้น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E2FA5-5735-40F9-AA6D-74F0761F4B73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26A1B-3415-4CD7-8F7A-4C4F7969E57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DFE0E5-3485-4884-A10F-A6B1A0515292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219C64-573F-4BC6-A20F-A9B8B1FB9516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89F104-DFBC-49F3-8308-BAF273164341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6EE976-D967-47DB-A5E0-C4B4D140BB2F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3D6E9-506B-4452-98F5-27EB198C02DA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CA814B-6A58-40E3-AE3B-A16139F72261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Authenticate with Microsoft ตาม approved route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3D56282-820D-418B-9642-C44F5230B3BC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167A4C-1E55-40FB-B87A-8184A81C4D59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3008A3-E281-4C65-B6B4-03C91C4E5BD4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E63532-9845-4370-A806-B51BA8D570BD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42FD76-FB8A-4913-8A59-4665DD5C7503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Audience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F436BA-43B5-4CD5-81FE-28372BF271AC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Creator และ tester ที่ระบุ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0C96128-FF8E-44B6-9CCE-7B6564D6FC3D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0261E4-5678-403C-AA5D-36D72FC8B154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ACD35F-F9D7-48E2-8245-B65526F580A0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6382BB-AACD-4676-8CED-403F4219CD9B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D6FC50-60DB-449B-B8DE-AF597F5EF212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F8D56-000D-49AC-A37B-DA2B7E928489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ของบัญชีฝึก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E906615-26FF-4AD2-A1FD-784D8EE15988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71BDE-1CED-443B-AE87-7BC3A2EFD25F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71E72DE-E5C4-48A1-9C7C-6E41329BC63D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A8DF50-1E44-4775-ADDB-1B4034FAC66C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E5F8F0-23C0-4CF1-93F5-8C038B3D37F8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Fallback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D0B7EE-C84D-487F-AE6E-72995C81929C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หาก policy block ให้ใช้ labelled demo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1C60AB0-B5B2-4E3F-831A-17D6BD6911AE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FFC70E-8250-484F-87F8-69BB4E6EE433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ไม่เปลี่ยนเป็น No authentication เพื่อข้ามข้อจำกัด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33043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F25689B-FCB8-4AB8-A042-738639B520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0E2B81-360F-4AF9-B597-93F32E33229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ED7CE-279D-4B88-90CD-628DA998E49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 Published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FCF32E-1D64-4011-BEFA-DCAA3196CEB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conversation ใหม่จาก channel จริง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3FBCA4-500B-403D-A841-131C0DF48B4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87498-20F1-4102-AB94-D5D974ADE29B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9A5DC7-B98C-4183-9309-C6780C11833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EF2C63-5EE7-4607-8BDC-CB67E4B34CCA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FB0D9-7037-4986-9587-6185CC6CE0C4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8618B-307A-4CFE-9318-C4C79C76AA29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5A51F5-CAC4-47DE-9BD5-74B7235740E1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Teams / M365 Copilot / Demo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091BB5-79D3-48AD-B8D0-43D297903B1F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C4CE76-0EB6-4BFE-9866-5C8CD688F0CE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98CE15-F070-41A8-BEBB-28F3F09250C1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E47B0-B946-425A-8C39-C85DDD12AADA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EC674F-EF33-48FB-8038-D6F547771C05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6FA9B7-72DE-4DE1-B66B-F8D937056101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 Knowledge K1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0705E-89B3-41B8-939D-50112CFE568C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8701B21-EED7-4610-90C5-CABF6A130B84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A2D80F-61BB-4EA7-81F2-5083347D4BDF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530282-5F9C-4573-960A-46FE073B517B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100ED3-8154-456A-B00D-85E41484938B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6692B4-D8A0-4E6C-A288-6BBFE5E3FC0F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ทำคำขอ Yes หนึ่งรอบ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CC5F98-05BB-4AA3-9366-9579DBA61674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D23C6A2-6EAC-47AC-966C-1833D3B56969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9068DA-6243-475E-9B99-BADE679B6E5B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34B07E-990C-4561-99C8-60ECC948CA59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449FDD-2711-463F-A3C5-71A643B2D2F1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Verify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D33A52-B06E-4CFB-A5F7-50ACB59AA183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Channel + run + Inbox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8606ACC-8F67-425A-A220-0F6FD62CE8CB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97661B-B5CC-4279-9D97-5804F4119893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ถ้าเข้าถึงไม่ได้ ให้บันทึก pending แทนการอ้างว่าผ่าน</a:t>
            </a:r>
          </a:p>
        </p:txBody>
      </p:sp>
    </p:spTree>
    <p:extLst>
      <p:ext uri="{BB962C8B-B14F-4D97-AF65-F5344CB8AC3E}">
        <p14:creationId xmlns:p14="http://schemas.microsoft.com/office/powerpoint/2010/main" val="1418270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0050F4E-53CD-46EE-9FA0-476180C107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FFDBD8-9E2E-4356-AFBB-1FF54E5702F1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E40FA-C870-4F7D-AAF0-64C2055C2B71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Governance checkpoint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8098C-1486-4DE0-8C06-76AF878E03AC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สถานะที่ดีต้องตรงกับหลักฐาน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3F0E82-09B5-49D6-B4AA-CD659077F980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F1E42-6399-4E31-BBD7-AD7C9B45705F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0902BD-AF81-47A1-A0EF-C303319AFC36}"/>
              </a:ext>
            </a:extLst>
          </p:cNvPr>
          <p:cNvSpPr>
            <a:spLocks noGrp="1"/>
          </p:cNvSpPr>
          <p:nvPr/>
        </p:nvSpPr>
        <p:spPr>
          <a:xfrm>
            <a:off x="1390650" y="24574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Passed: ทดสอบใน approved channel จริง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BB25DF-ACDD-4966-8B8D-FE6370D1027B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DD860C-801D-45A1-BFA2-756D659DE289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C2163-F25A-4670-A4ED-C46401380CB5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Pending: รอ license, policy หรือ admin approval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742B82-09AC-447F-801A-4C50D871EFD1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FC3E2-7F54-4C4D-BFBB-375DC0414902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55468-30BE-4856-A626-5BB1869C1F79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Demo: เห็น instructor ทำใน tenant ที่อนุมัติ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0309F6-308B-4595-995E-C6F036A1096E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191750" cy="552450"/>
          </a:xfrm>
          <a:prstGeom prst="roundRect">
            <a:avLst>
              <a:gd name="adj" fmla="val 13793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0D03ED-FF65-47C1-81C9-8A5F7B998913}"/>
              </a:ext>
            </a:extLst>
          </p:cNvPr>
          <p:cNvSpPr>
            <a:spLocks noGrp="1"/>
          </p:cNvSpPr>
          <p:nvPr/>
        </p:nvSpPr>
        <p:spPr>
          <a:xfrm>
            <a:off x="895350" y="5791200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Static deck และเว็บไซต์ local ไม่พิสูจน์ tenant execution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437436-565D-4573-A1F4-B19F13525C0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521E8B-8F6F-4B05-8D53-F38D06AC7C1E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37727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AD2FAD-263A-4294-A23D-9960080E58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619750" cy="685800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5C5386-6F92-485E-AFA1-05348D61EED9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ALTERNATIVE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09DC1-3D9F-4039-9489-48A57B00A53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4381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7"/>
          </a:bodyPr>
          <a:lstStyle/>
          <a:p>
            <a:pPr algn="l"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Microsoft 365 Copilot Agent Builder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9342E-2341-4124-9F13-E112FE894050}"/>
              </a:ext>
            </a:extLst>
          </p:cNvPr>
          <p:cNvSpPr>
            <a:spLocks noGrp="1"/>
          </p:cNvSpPr>
          <p:nvPr/>
        </p:nvSpPr>
        <p:spPr>
          <a:xfrm>
            <a:off x="590550" y="2705100"/>
            <a:ext cx="42862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ทางเริ่มที่เร็วสำหรับ personal หรือ small-team knowledge agent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86E390-8D14-44E6-B66E-4B3A4D1A77B3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191000" cy="1009650"/>
          </a:xfrm>
          <a:prstGeom prst="roundRect">
            <a:avLst>
              <a:gd name="adj" fmla="val 7547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19C5B4-3F5C-4A26-A1C0-436C8918B343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36957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Overview / instructor demo only</a:t>
            </a:r>
          </a:p>
          <a:p>
            <a:pPr algn="ctr"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 learner exercise เพิ่ม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1A9DC-CF26-4FD7-81BE-2F4C18737DCE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15968D-5843-44B6-800C-AD556218EF5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82669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B7C919-B822-4BEF-9EB6-1165B44F4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392E17-1B2A-4E2B-9148-ADB09A1AB5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EBB88-F4E1-489C-8DA4-803BACC0C57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สร้างด้วย Natural language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998B69-DE18-4ABC-9D36-01F76ECE4BA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เริ่มจากอธิบายสิ่งที่อยากได้ แล้วตรวจ draft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B21C42-79C9-44DF-B7CB-8B29264B6975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F539C-9A33-48D9-BAFD-4FD71CB5C42A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69688E-DAEA-4BA2-8F2F-00DAFEADB115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3CBA41-C104-47A7-A41B-EE9A090B2CAE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C88725-5E5C-4B54-998D-B138F91C5E94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226B83-20BC-4F38-AEDF-7804EFCB6DDF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Describe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34EDC-8DA2-44FD-B72B-B1858C3A090C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บอกเป้าหมายและผู้ใช้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9823D8-67AF-4898-B955-531A274ED060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C8004E-60B4-41B4-A6A0-6A22C5BB1934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F62137B-0105-4479-941B-BD47D83766DE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9BE73-6ED1-4376-BF14-8959576D0D46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22A73-289D-446B-9B41-55D5CE102888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3CB2D-58A0-43D0-842E-4E535CBA1720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name, description, instructions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832A6E-4CCF-439E-B301-B15119963943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2C3E20-2998-4741-8A4A-366671D6B1ED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934241-7A35-4DFF-86B0-4BC47E93960D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CA08DC-89E3-4649-8982-8D519A2BC0C0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BFF18A-FA3F-4570-BAF8-B0D580DC5B04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Add knowledge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49F46F-3583-4277-898F-E3392CAC10CA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เลือกแหล่งข้อมูลที่อนุญาต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D3F714-29C9-4F3D-9FD8-EB12DBFE641E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31A01A8-105B-4967-A9BE-02EE6E06E481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4545065-C96D-4B47-84A2-715FFBEC5DAD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F2AED3-E74E-4733-BCE3-70338438AD18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A039DC-D2E2-42AA-B60D-B0EF09DF03ED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5D792A-7F27-4819-9E86-73D6AFEF3CB2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ทดสอบและปรับก่อนแชร์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BA7428C-2831-4A8E-A94D-2A47A4BC88D0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C32729-2124-417A-AFEC-E70770D9A808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ความเร็วในการสร้างไม่ลดความจำเป็นในการตรวจขอบเขตและคำตอบ</a:t>
            </a:r>
          </a:p>
        </p:txBody>
      </p:sp>
    </p:spTree>
    <p:extLst>
      <p:ext uri="{BB962C8B-B14F-4D97-AF65-F5344CB8AC3E}">
        <p14:creationId xmlns:p14="http://schemas.microsoft.com/office/powerpoint/2010/main" val="1433087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93A1394-BAEE-4AAD-A364-54D6BD3639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F2CE10-DB59-4943-8411-7DBB8F794AC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1CA0D-73F3-4CF7-99DD-B0211D47041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สร้างด้วย Configure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42BC-8DF9-4058-9FE8-AF691535A63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ตั้งค่าหลักโดยตรงเมื่อรู้สิ่งที่ต้องการ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2D072-F9FB-4F4C-8353-7D87F37EF038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E6D09-8427-43AD-B9F1-E25D573775E5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A2E157E-BACD-4D15-B48A-8E6009D59638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3BF0D-0AEC-445F-B94B-92D6EF381A6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A770E4-0D42-4EF4-93DA-7241B48CD6EE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C806C-531D-4B85-BBFE-468B30E291AB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44369-6362-47E5-A846-C4FC844FB3A1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69F8C1-3AEB-4473-9F08-AB58D0302DB6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Name + Description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D9610C-A07D-4221-ACAD-AFDF799B4F6E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B6E943-1B94-4E41-AB64-49E3D449D00A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CF7C9-1188-4BF6-AC9B-EFA4ABDC7ECF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B17D75-DD84-4FC9-A657-649605620ADB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2B5B32-B074-432D-8C78-854C5158F2F2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Behavior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4C4A51-5970-48E4-A6D7-0EEB4E9F0C23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Instructions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D6AF01E-F0E2-457A-86DB-BFB4BD88C05D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1246C5-24BC-4A37-85B5-2722D1D0BBF3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15172D-93C4-472F-8E3A-09F4DD64BC4A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67A231-DF52-4292-BC28-BF2005A2E161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582423-14CB-4034-9248-57969E3FDE11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Grounding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43335D-972B-4E0E-A12B-9FFFEDBDF6ED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FEAB15-4ACA-47DB-BC26-10C0878B42CD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D9903B-9DC8-4CA1-8ACF-F6B9157FECED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9C44660-5A1C-47C1-B645-67C4B492AB2A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E61049-0388-495A-B1A8-7EBCE7DECAF8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1DB2E9-7C70-4841-B696-AE6E808067FD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Experience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455A8C-30DF-45BF-97BC-BA1FD1908A19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Starter prompts + Try it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7F829ED-085A-438E-8641-CA4014909802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EDF5F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18B0D6-EEE6-4735-BF2E-46229B979503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UI และ capability อาจต่างตาม license; instructor ตรวจ tenant ก่อน demo</a:t>
            </a:r>
          </a:p>
        </p:txBody>
      </p:sp>
    </p:spTree>
    <p:extLst>
      <p:ext uri="{BB962C8B-B14F-4D97-AF65-F5344CB8AC3E}">
        <p14:creationId xmlns:p14="http://schemas.microsoft.com/office/powerpoint/2010/main" val="1930649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896E22-0EC3-48CF-948B-C1921DCBB0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F29C7-4001-48A2-AEB0-1E5158ACD5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CD066-8F50-454F-B90B-65334AC3E72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 vs Copilot Studio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3B2528-06C5-4DE0-BFC0-283B5485341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เลือกจากความซับซ้อนและวงจรชีวิต ไม่ใช่จากคำว่า 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9B77E6-B0BB-46B9-801E-066552F06711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76351-E970-4ABE-8E92-515EE472D410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3E43E8-4F94-4274-8107-D5FB0E25BFE7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4E64CB-8980-4F26-90DD-80684FA73DF0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B1DA99-2886-461B-8E88-EC9A5B49B53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6BFBFB-32E6-4DE2-9BD4-BD8ADD7EAD29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227302-3D52-4353-B04D-95BAA5AF29FE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08A0D-4DDD-48C8-A3BD-D5B3B519C684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Copilot Studio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FC5E0-9CC9-4314-B9B6-3D8943EFE0B9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เร็วสำหรับ personal / small team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เด่นด้าน knowledge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เริ่มจาก M365 Copilot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36792-1CDA-43CB-96C4-7819913F0F59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รองรับ broader deployment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multi-step workflows + integrations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testing, governance, lifecycle controls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D03498-67FA-4374-A6A0-5BE96A0E173F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ทั้งสองเป็นจุดเริ่มได้ แต่เหมาะกับงานคนละระดับ</a:t>
            </a:r>
          </a:p>
        </p:txBody>
      </p:sp>
    </p:spTree>
    <p:extLst>
      <p:ext uri="{BB962C8B-B14F-4D97-AF65-F5344CB8AC3E}">
        <p14:creationId xmlns:p14="http://schemas.microsoft.com/office/powerpoint/2010/main" val="18196376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B04BEE-8DBE-4DD2-BBA2-BA15BBE68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BBD9CF-0268-46BD-82C8-DDB3EC32690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C0DAD6-6165-4CD4-B9CC-01DB397AC99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เริ่มที่ไหน และเมื่อไรควรย้าย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706E6-500D-4732-B5D5-41C10284903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เริ่มเล็กได้ แล้วเพิ่มการควบคุมเมื่อความต้องการโต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EC37E-B586-4DBE-B91C-5AA40BD540B5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81033-3F73-48A3-8DB8-0E42AFE90615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07C3FE-078D-49B7-98DE-A5BBA4C66EE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376816-941D-47D4-8EE0-5B1F8F70A99B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DE2CA0-2F68-42DA-98F6-8FD220D43207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A16687-D763-4254-933C-8E2782C9FFBA}"/>
              </a:ext>
            </a:extLst>
          </p:cNvPr>
          <p:cNvSpPr>
            <a:spLocks noGrp="1"/>
          </p:cNvSpPr>
          <p:nvPr/>
        </p:nvSpPr>
        <p:spPr>
          <a:xfrm>
            <a:off x="6534150" y="2095500"/>
            <a:ext cx="5048250" cy="628650"/>
          </a:xfrm>
          <a:prstGeom prst="roundRect">
            <a:avLst>
              <a:gd name="adj" fmla="val 12121"/>
            </a:avLst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1AE305-2746-46BF-BFC8-F1C1101F3224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 Agent Builder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3380E-C165-4756-93B5-64C921E2C85C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45529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Copy to Copilot Studio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2E1DE3-CB38-4FAC-9435-1EA98B7DD72A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Q&amp;A จากไฟล์ที่คุ้นเคย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ผู้ใช้ส่วนตัวหรือทีมเล็ก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ต้องการทดลองอย่างรวดเร็ว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E0A62E-40C5-4AF8-868D-648F55B2408D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41910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ต้องมี Topic และ multi-step action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ต้องเชื่อมระบบหรือขยาย audience</a:t>
            </a:r>
          </a:p>
          <a:p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>
            <a:pPr algn="l"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ต้องการ lifecycle/governance ที่เข้มขึ้น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1FE728-9EF3-4A97-909F-265A723D31F1}"/>
              </a:ext>
            </a:extLst>
          </p:cNvPr>
          <p:cNvSpPr>
            <a:spLocks noGrp="1"/>
          </p:cNvSpPr>
          <p:nvPr/>
        </p:nvSpPr>
        <p:spPr>
          <a:xfrm>
            <a:off x="1238250" y="59245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การ copy เป็นทางต่อยอด ไม่ใช่ข้อบังคับของทุก agent</a:t>
            </a:r>
          </a:p>
        </p:txBody>
      </p:sp>
    </p:spTree>
    <p:extLst>
      <p:ext uri="{BB962C8B-B14F-4D97-AF65-F5344CB8AC3E}">
        <p14:creationId xmlns:p14="http://schemas.microsoft.com/office/powerpoint/2010/main" val="14360608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D07147-000D-494C-9F4A-A9E8C6B5D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99E5C-0981-4EFB-A3E0-F38289D79F76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685800" cy="762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39543-7908-416C-9E08-FDA94DAFB3AE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10342-F6AC-4C51-8EF2-99A2677D5E1A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AI step อย่างมีวินัย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DA3C7-8501-4E42-8EA3-8F9E490812D8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AI ช่วยตีความ แล้วให้คนตรวจ ก่อนส่งผลต่อไป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2DEC33-897F-4054-A05C-EFA3480DFB3D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000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F11AD0-1154-4636-AD4E-1AB0FEDDADD6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 • Instructor demo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2009AF-56D9-4443-B671-AB0D87476FC0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8462D4-61CB-43E9-BD81-2BFC31ED373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687394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DB6DEF1-C880-45C0-AFD7-830F59F18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151412-4BDB-4E70-9910-704F8907AC2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E69FFA-8708-4A39-9BE1-D802393BFE0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Pattern จาก Day 1 ใช้ต่อได้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A6CE1-D085-4CC0-9323-1BDEAC9C390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AI อยู่กลาง flow ไม่ได้แทน flow ทั้งเส้น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A23E9-4D98-4BF1-BED1-859834C3112C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B96F8-80D2-48D7-A6E9-86686A183305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71C790-C2EE-4D29-9B98-03DF6DFFB7DB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308216-08E6-4953-8339-F7003F3B1CE0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E0BEF-8184-44A1-AE24-F1CF20754CD9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E1D9BE-78CF-48E2-8D4B-4796C0B2D139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Incoming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474D43-311A-4887-A186-A270ADFDAC65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ข้อมูลหรือข้อความเข้ามา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C46892-FEA3-474E-8353-6F2B93AA7915}"/>
              </a:ext>
            </a:extLst>
          </p:cNvPr>
          <p:cNvSpPr>
            <a:spLocks noGrp="1"/>
          </p:cNvSpPr>
          <p:nvPr/>
        </p:nvSpPr>
        <p:spPr>
          <a:xfrm>
            <a:off x="31242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405F05-C903-4544-9FE4-D4EBB926CA09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C6BD0B-1AB4-490B-8A4E-D46E23D64C27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AF447-71A7-403C-B577-3D9B33398FE5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8ADD77-1C80-4905-911A-D979E378F5B2}"/>
              </a:ext>
            </a:extLst>
          </p:cNvPr>
          <p:cNvSpPr>
            <a:spLocks noGrp="1"/>
          </p:cNvSpPr>
          <p:nvPr/>
        </p:nvSpPr>
        <p:spPr>
          <a:xfrm>
            <a:off x="35623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784B2B-044D-405F-AB63-5AE786471A92}"/>
              </a:ext>
            </a:extLst>
          </p:cNvPr>
          <p:cNvSpPr>
            <a:spLocks noGrp="1"/>
          </p:cNvSpPr>
          <p:nvPr/>
        </p:nvSpPr>
        <p:spPr>
          <a:xfrm>
            <a:off x="35623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Run a prompt สร้างผลลัพธ์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959EFA-E3DA-44C1-A998-49BA43AFF66B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D32EB8-33D7-402F-9648-F383F685C898}"/>
              </a:ext>
            </a:extLst>
          </p:cNvPr>
          <p:cNvSpPr>
            <a:spLocks noGrp="1"/>
          </p:cNvSpPr>
          <p:nvPr/>
        </p:nvSpPr>
        <p:spPr>
          <a:xfrm>
            <a:off x="605790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8CE7B5-7EA6-4A1A-87D2-DAB2E413975A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1E1088-CC8C-4657-8861-0DECF8A4EB9E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4BEFB1-9838-4D65-B67B-C586DB8CAE62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Human 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B2CBCC-6D42-4506-939F-F87DEC049906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ตรวจความถูกต้องและความเหมาะสม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0CF8AF-0A34-4ED3-8E07-CDA86F26A17A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9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6998266-593B-49D8-9E68-F6156F95657D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2495550" cy="238125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9525">
            <a:solidFill>
              <a:srgbClr val="C83C42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86F64E3-1024-4D72-8A68-7B9F15EBA55B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E739D2-4177-4F1A-9A61-88FCA9F15341}"/>
              </a:ext>
            </a:extLst>
          </p:cNvPr>
          <p:cNvSpPr>
            <a:spLocks noGrp="1"/>
          </p:cNvSpPr>
          <p:nvPr/>
        </p:nvSpPr>
        <p:spPr>
          <a:xfrm>
            <a:off x="9010650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47178D-B80F-4874-98DD-C1FA6D3852B7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20383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Familiar 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747D3C-6E01-448C-B8B1-7F87D45E5535}"/>
              </a:ext>
            </a:extLst>
          </p:cNvPr>
          <p:cNvSpPr>
            <a:spLocks noGrp="1"/>
          </p:cNvSpPr>
          <p:nvPr/>
        </p:nvSpPr>
        <p:spPr>
          <a:xfrm>
            <a:off x="9010650" y="384810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/ Teams / record update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54102A7-FA30-4CF5-96D6-4CECC56AAC2C}"/>
              </a:ext>
            </a:extLst>
          </p:cNvPr>
          <p:cNvSpPr>
            <a:spLocks noGrp="1"/>
          </p:cNvSpPr>
          <p:nvPr/>
        </p:nvSpPr>
        <p:spPr>
          <a:xfrm>
            <a:off x="1447800" y="5143500"/>
            <a:ext cx="8991600" cy="742950"/>
          </a:xfrm>
          <a:prstGeom prst="roundRect">
            <a:avLst>
              <a:gd name="adj" fmla="val 10256"/>
            </a:avLst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507C32-1845-4E9B-A645-F24696A2468C}"/>
              </a:ext>
            </a:extLst>
          </p:cNvPr>
          <p:cNvSpPr>
            <a:spLocks noGrp="1"/>
          </p:cNvSpPr>
          <p:nvPr/>
        </p:nvSpPr>
        <p:spPr>
          <a:xfrm>
            <a:off x="1733550" y="5238750"/>
            <a:ext cx="84201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Incoming data → AI action → familiar flow action</a:t>
            </a:r>
          </a:p>
        </p:txBody>
      </p:sp>
    </p:spTree>
    <p:extLst>
      <p:ext uri="{BB962C8B-B14F-4D97-AF65-F5344CB8AC3E}">
        <p14:creationId xmlns:p14="http://schemas.microsoft.com/office/powerpoint/2010/main" val="12673722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46188FB-46FC-401F-B5AE-2BF8940097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488AF0-114B-494D-B015-0E7BB0E694E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F56B7-71CF-4DFC-8C5B-03F05CFBBA4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 ใน Day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308F8-5883-496C-BC2D-EE92534507B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Prompt ใช้ใน flow หรือ agent ได้ แต่ readiness ต้องมาก่อน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10803-70F0-414E-94BC-223EF7DC9054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2A692-4304-49EF-8198-183870628470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6EBDA8-6302-4030-A66A-5549DF2B62D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B3D77-C551-4C27-B706-8FEF9D0EE9D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5250" cy="17145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693F6A-587A-481E-8534-2CE7AB47B72E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1E2ED-5F79-4231-A242-75534CDE6DF4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DB5634-B599-467F-8739-4C570E675E12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585CE5-53FE-4947-8963-926068BF3440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สรุป จัดรูปแบบ หรือร่างข้อความจาก incoming data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C1F68F-F97D-41EC-98FF-2D5D4F7EB2BC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6D982-C1B0-42EE-897F-2EDE6047D5A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0" cy="1714500"/>
          </a:xfrm>
          <a:prstGeom prst="rect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B4E013-B63C-4CA7-BDBA-8B3BED8A7ED9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893F64-70EA-4B9B-8377-2E3999833C6D}"/>
              </a:ext>
            </a:extLst>
          </p:cNvPr>
          <p:cNvSpPr>
            <a:spLocks noGrp="1"/>
          </p:cNvSpPr>
          <p:nvPr/>
        </p:nvSpPr>
        <p:spPr>
          <a:xfrm>
            <a:off x="63627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E4CCB7-06A2-45DA-A2E9-695823C2037A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84D882-D308-4B73-A02D-3C0907464D99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output ก่อน downstream action โดยเฉพาะงานสำคัญ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22F61D-1DA0-4921-A88C-0AAABE1294A9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B5511-149C-4C10-A4FB-A231357105B4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95250" cy="1714500"/>
          </a:xfrm>
          <a:prstGeom prst="rect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09DC05-A81B-4D4F-9A46-0DFC18AD9FAC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ellipse">
            <a:avLst/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308D46-3CF8-4991-B718-F0F2768A143E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BD08BF-E480-4159-BC4F-0FB3E6842330}"/>
              </a:ext>
            </a:extLst>
          </p:cNvPr>
          <p:cNvSpPr>
            <a:spLocks noGrp="1"/>
          </p:cNvSpPr>
          <p:nvPr/>
        </p:nvSpPr>
        <p:spPr>
          <a:xfrm>
            <a:off x="14287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6DC9A4-BE2D-4E11-B098-6CE8427382A7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Power Automate action อาจเป็น Premium; Copilot Studio ใช้ Copilot Credits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C9D320C-349D-43A4-831F-05F0EBCF8D8A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0F6C46-676C-480E-AF78-1693E91AE253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95250" cy="17145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573B6B1-8286-485E-B776-4FEDB0585D19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ellipse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18E100-D21C-496E-A04B-201D19E4496D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5A267F-7870-4C2F-B01E-BA11B5145287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Scope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85B078-26E6-4724-A5C5-CE619D11999F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Instructor demo/discussion only ไม่เป็นเงื่อนไขผ่าน lab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4C5531B-5C25-4DED-8424-14632F5C07E6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FFF5DF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D47794-326F-44D6-AD73-61833B46E953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10248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อย่าอ้างว่า participant tenant พร้อม จนกว่าจะตรวจ license, capacity และ policy</a:t>
            </a:r>
          </a:p>
        </p:txBody>
      </p:sp>
    </p:spTree>
    <p:extLst>
      <p:ext uri="{BB962C8B-B14F-4D97-AF65-F5344CB8AC3E}">
        <p14:creationId xmlns:p14="http://schemas.microsoft.com/office/powerpoint/2010/main" val="17321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09A7D75-664D-4C6B-AF39-4A173F43A1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7336AB-C930-4F4C-B1CF-870FE11BF11A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92D6F9-11E5-4F42-967F-792D17DF573E}"/>
              </a:ext>
            </a:extLst>
          </p:cNvPr>
          <p:cNvSpPr>
            <a:spLocks noGrp="1"/>
          </p:cNvSpPr>
          <p:nvPr/>
        </p:nvSpPr>
        <p:spPr>
          <a:xfrm>
            <a:off x="666750" y="857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Review &amp; Q&amp;A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779FA2-B46B-447C-B70B-87CF41D3818D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หนึ่งเรื่องครบจากคำตอบถึงหลักฐาน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908251-F303-42A7-9E44-86BB20830C6F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14FB6-C01A-4A48-8471-B9A82B11B357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5C4A3-E6D0-4B41-A204-B9469A9C49A2}"/>
              </a:ext>
            </a:extLst>
          </p:cNvPr>
          <p:cNvSpPr>
            <a:spLocks noGrp="1"/>
          </p:cNvSpPr>
          <p:nvPr/>
        </p:nvSpPr>
        <p:spPr>
          <a:xfrm>
            <a:off x="1390650" y="24574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Knowledge ตอบจากแหล่งที่อนุมัติ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B0DDA4-9A3D-4633-BE4E-FAFBD7554B3C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2FF4D-4797-4BBE-9A44-5678DF2BC88B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38E3D2-B0BA-4175-8D7F-2B19943126FB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Topic ถาม StoreCode + IssueDetails + Yes/No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EE87F3-7712-4B39-9BD2-F10E4D7EEB0A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ellipse">
            <a:avLst/>
          </a:prstGeom>
          <a:solidFill>
            <a:srgbClr val="4F8FC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86737E-E74F-4F3D-B98B-A3816F8D53EE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7947DB-907E-48C0-9A13-4063C4B1993B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Flow ทำ action และคืน ResponseMessage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509CB3-9AC0-4C84-BA8C-4B2616EEA60E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438150" cy="438150"/>
          </a:xfrm>
          <a:prstGeom prst="ellipse">
            <a:avLst/>
          </a:prstGeom>
          <a:solidFill>
            <a:srgbClr val="C83C42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971CCF-959F-477D-8A18-ECFAA78443FB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A8CD2A-6468-4DCA-AE5A-182614DEE914}"/>
              </a:ext>
            </a:extLst>
          </p:cNvPr>
          <p:cNvSpPr>
            <a:spLocks noGrp="1"/>
          </p:cNvSpPr>
          <p:nvPr/>
        </p:nvSpPr>
        <p:spPr>
          <a:xfrm>
            <a:off x="1390650" y="5086350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Evidence + Governance บอกว่าใช้งานได้ถึงระดับใด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0D3B880-60EC-445F-8E57-701B3EDB576B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191750" cy="552450"/>
          </a:xfrm>
          <a:prstGeom prst="roundRect">
            <a:avLst>
              <a:gd name="adj" fmla="val 13793"/>
            </a:avLst>
          </a:prstGeom>
          <a:solidFill>
            <a:srgbClr val="244D70"/>
          </a:solidFill>
          <a:ln w="0">
            <a:noFill/>
          </a:ln>
        </p:spPr>
        <p:txBody>
          <a:bodyPr/>
          <a:lstStyle/>
          <a:p>
            <a:endParaRPr lang="en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E99DAC-0683-47A4-87D3-24C821FDD130}"/>
              </a:ext>
            </a:extLst>
          </p:cNvPr>
          <p:cNvSpPr>
            <a:spLocks noGrp="1"/>
          </p:cNvSpPr>
          <p:nvPr/>
        </p:nvSpPr>
        <p:spPr>
          <a:xfrm>
            <a:off x="895350" y="5791200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ทางเลือกเพิ่มเติม: Agent Builder สำหรับเริ่มเร็ว • AI Builder สำหรับเพิ่ม AI step อย่างมีการตรวจ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F394DB-B36F-4CEE-8FE5-765ECA527D82}"/>
              </a:ext>
            </a:extLst>
          </p:cNvPr>
          <p:cNvSpPr>
            <a:spLocks noGrp="1"/>
          </p:cNvSpPr>
          <p:nvPr/>
        </p:nvSpPr>
        <p:spPr>
          <a:xfrm>
            <a:off x="533400" y="651510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C825D7-3F96-4356-B45B-3A06E632D3F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520194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6046</Words>
  <Application>Microsoft Macintosh PowerPoint</Application>
  <DocSecurity>0</DocSecurity>
  <PresentationFormat>Widescreen</PresentationFormat>
  <Paragraphs>1148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Aptos</vt:lpstr>
      <vt:lpstr>Noto Sans Thai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Teerasej Jiraphatchandej</cp:lastModifiedBy>
  <cp:revision>1</cp:revision>
  <dcterms:created xsi:type="dcterms:W3CDTF">2026-09-22T17:10:48Z</dcterms:created>
  <dcterms:modified xsi:type="dcterms:W3CDTF">2026-09-24T01:24:51Z</dcterms:modified>
</cp:coreProperties>
</file>