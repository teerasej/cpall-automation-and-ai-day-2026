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d5aac49ba44422" /><Relationship Type="http://schemas.openxmlformats.org/officeDocument/2006/relationships/extended-properties" Target="/docProps/app.xml" Id="R35ebe17be9314461" /><Relationship Type="http://schemas.openxmlformats.org/officeDocument/2006/relationships/officeDocument" Target="/ppt/presentation.xml" Id="R5584ceacaf34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cb7a7004c14505"/>
  </p:sldMasterIdLst>
  <p:notesMasterIdLst>
    <p:notesMasterId xmlns:r="http://schemas.openxmlformats.org/officeDocument/2006/relationships" r:id="R351ea26e44444d25"/>
  </p:notesMasterIdLst>
  <p:sldIdLst>
    <p:sldId xmlns:r="http://schemas.openxmlformats.org/officeDocument/2006/relationships" id="256" r:id="Rad4c74f239214ec4"/>
    <p:sldId xmlns:r="http://schemas.openxmlformats.org/officeDocument/2006/relationships" id="257" r:id="Rdd44a901d1be4af3"/>
    <p:sldId xmlns:r="http://schemas.openxmlformats.org/officeDocument/2006/relationships" id="258" r:id="Rd3fdcd3e98d241bb"/>
    <p:sldId xmlns:r="http://schemas.openxmlformats.org/officeDocument/2006/relationships" id="259" r:id="R36a1923a01fb4b91"/>
    <p:sldId xmlns:r="http://schemas.openxmlformats.org/officeDocument/2006/relationships" id="260" r:id="R9fca927891d34b6b"/>
    <p:sldId xmlns:r="http://schemas.openxmlformats.org/officeDocument/2006/relationships" id="261" r:id="R9a670da3d4ae46e0"/>
    <p:sldId xmlns:r="http://schemas.openxmlformats.org/officeDocument/2006/relationships" id="262" r:id="R185192359c04406a"/>
    <p:sldId xmlns:r="http://schemas.openxmlformats.org/officeDocument/2006/relationships" id="263" r:id="R971170dade084902"/>
    <p:sldId xmlns:r="http://schemas.openxmlformats.org/officeDocument/2006/relationships" id="264" r:id="R03c3928b76fe4cdb"/>
    <p:sldId xmlns:r="http://schemas.openxmlformats.org/officeDocument/2006/relationships" id="265" r:id="Rdf41b009bb304591"/>
    <p:sldId xmlns:r="http://schemas.openxmlformats.org/officeDocument/2006/relationships" id="266" r:id="Rc12801ed1e074f75"/>
    <p:sldId xmlns:r="http://schemas.openxmlformats.org/officeDocument/2006/relationships" id="267" r:id="R34dff44de2164a11"/>
    <p:sldId xmlns:r="http://schemas.openxmlformats.org/officeDocument/2006/relationships" id="268" r:id="Ra71997a817b54702"/>
    <p:sldId xmlns:r="http://schemas.openxmlformats.org/officeDocument/2006/relationships" id="269" r:id="Rb6668597df2047cb"/>
    <p:sldId xmlns:r="http://schemas.openxmlformats.org/officeDocument/2006/relationships" id="270" r:id="Rf692ef97850f4278"/>
    <p:sldId xmlns:r="http://schemas.openxmlformats.org/officeDocument/2006/relationships" id="271" r:id="R9ad0f24df6724eb7"/>
    <p:sldId xmlns:r="http://schemas.openxmlformats.org/officeDocument/2006/relationships" id="272" r:id="Reb8d511bda1147c6"/>
    <p:sldId xmlns:r="http://schemas.openxmlformats.org/officeDocument/2006/relationships" id="273" r:id="R4b58a5a04d854b09"/>
    <p:sldId xmlns:r="http://schemas.openxmlformats.org/officeDocument/2006/relationships" id="274" r:id="R3c92ed78ece04467"/>
    <p:sldId xmlns:r="http://schemas.openxmlformats.org/officeDocument/2006/relationships" id="275" r:id="Rfb592fc9f97c4ff5"/>
    <p:sldId xmlns:r="http://schemas.openxmlformats.org/officeDocument/2006/relationships" id="276" r:id="R1ad29c239d3e471c"/>
    <p:sldId xmlns:r="http://schemas.openxmlformats.org/officeDocument/2006/relationships" id="277" r:id="Rf7bfb8c69ced4b97"/>
    <p:sldId xmlns:r="http://schemas.openxmlformats.org/officeDocument/2006/relationships" id="278" r:id="R68edf4781d414e6c"/>
    <p:sldId xmlns:r="http://schemas.openxmlformats.org/officeDocument/2006/relationships" id="279" r:id="Ra3053a4370e84788"/>
    <p:sldId xmlns:r="http://schemas.openxmlformats.org/officeDocument/2006/relationships" id="280" r:id="R7a6ab16d98f84225"/>
    <p:sldId xmlns:r="http://schemas.openxmlformats.org/officeDocument/2006/relationships" id="281" r:id="R4621b644ad4b4342"/>
    <p:sldId xmlns:r="http://schemas.openxmlformats.org/officeDocument/2006/relationships" id="282" r:id="Rb7638f7cbc454f0a"/>
    <p:sldId xmlns:r="http://schemas.openxmlformats.org/officeDocument/2006/relationships" id="283" r:id="Rc2bda4560085456a"/>
    <p:sldId xmlns:r="http://schemas.openxmlformats.org/officeDocument/2006/relationships" id="284" r:id="Rd7dbaef211944bcb"/>
    <p:sldId xmlns:r="http://schemas.openxmlformats.org/officeDocument/2006/relationships" id="285" r:id="Rb6100b8035574ff2"/>
    <p:sldId xmlns:r="http://schemas.openxmlformats.org/officeDocument/2006/relationships" id="286" r:id="Re7a2ea4e655a44d0"/>
    <p:sldId xmlns:r="http://schemas.openxmlformats.org/officeDocument/2006/relationships" id="287" r:id="R01a185952c2b4560"/>
    <p:sldId xmlns:r="http://schemas.openxmlformats.org/officeDocument/2006/relationships" id="288" r:id="Rb0a4c30be9b3478b"/>
    <p:sldId xmlns:r="http://schemas.openxmlformats.org/officeDocument/2006/relationships" id="289" r:id="R994da018f9134684"/>
    <p:sldId xmlns:r="http://schemas.openxmlformats.org/officeDocument/2006/relationships" id="290" r:id="Rf93a5131b93c479b"/>
    <p:sldId xmlns:r="http://schemas.openxmlformats.org/officeDocument/2006/relationships" id="291" r:id="R7264a54e41484c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c16a2870984825" /><Relationship Type="http://schemas.openxmlformats.org/officeDocument/2006/relationships/slideMaster" Target="/ppt/slideMasters/slideMaster1.xml" Id="Re1cb7a7004c14505" /><Relationship Type="http://schemas.openxmlformats.org/officeDocument/2006/relationships/notesMaster" Target="/ppt/notesMasters/notesMaster1.xml" Id="R351ea26e44444d25" /><Relationship Type="http://schemas.openxmlformats.org/officeDocument/2006/relationships/presProps" Target="/ppt/presProps.xml" Id="R13655f9e63744414" /><Relationship Type="http://schemas.openxmlformats.org/officeDocument/2006/relationships/tableStyles" Target="/ppt/tableStyles.xml" Id="R1e10d715632c41df" /><Relationship Type="http://schemas.openxmlformats.org/officeDocument/2006/relationships/slide" Target="/ppt/slides/slide1.xml" Id="Rad4c74f239214ec4" /><Relationship Type="http://schemas.openxmlformats.org/officeDocument/2006/relationships/slide" Target="/ppt/slides/slide2.xml" Id="Rdd44a901d1be4af3" /><Relationship Type="http://schemas.openxmlformats.org/officeDocument/2006/relationships/slide" Target="/ppt/slides/slide3.xml" Id="Rd3fdcd3e98d241bb" /><Relationship Type="http://schemas.openxmlformats.org/officeDocument/2006/relationships/slide" Target="/ppt/slides/slide4.xml" Id="R36a1923a01fb4b91" /><Relationship Type="http://schemas.openxmlformats.org/officeDocument/2006/relationships/slide" Target="/ppt/slides/slide5.xml" Id="R9fca927891d34b6b" /><Relationship Type="http://schemas.openxmlformats.org/officeDocument/2006/relationships/slide" Target="/ppt/slides/slide6.xml" Id="R9a670da3d4ae46e0" /><Relationship Type="http://schemas.openxmlformats.org/officeDocument/2006/relationships/slide" Target="/ppt/slides/slide7.xml" Id="R185192359c04406a" /><Relationship Type="http://schemas.openxmlformats.org/officeDocument/2006/relationships/slide" Target="/ppt/slides/slide8.xml" Id="R971170dade084902" /><Relationship Type="http://schemas.openxmlformats.org/officeDocument/2006/relationships/slide" Target="/ppt/slides/slide9.xml" Id="R03c3928b76fe4cdb" /><Relationship Type="http://schemas.openxmlformats.org/officeDocument/2006/relationships/slide" Target="/ppt/slides/slide10.xml" Id="Rdf41b009bb304591" /><Relationship Type="http://schemas.openxmlformats.org/officeDocument/2006/relationships/slide" Target="/ppt/slides/slide11.xml" Id="Rc12801ed1e074f75" /><Relationship Type="http://schemas.openxmlformats.org/officeDocument/2006/relationships/slide" Target="/ppt/slides/slide12.xml" Id="R34dff44de2164a11" /><Relationship Type="http://schemas.openxmlformats.org/officeDocument/2006/relationships/slide" Target="/ppt/slides/slide13.xml" Id="Ra71997a817b54702" /><Relationship Type="http://schemas.openxmlformats.org/officeDocument/2006/relationships/slide" Target="/ppt/slides/slide14.xml" Id="Rb6668597df2047cb" /><Relationship Type="http://schemas.openxmlformats.org/officeDocument/2006/relationships/slide" Target="/ppt/slides/slide15.xml" Id="Rf692ef97850f4278" /><Relationship Type="http://schemas.openxmlformats.org/officeDocument/2006/relationships/slide" Target="/ppt/slides/slide16.xml" Id="R9ad0f24df6724eb7" /><Relationship Type="http://schemas.openxmlformats.org/officeDocument/2006/relationships/slide" Target="/ppt/slides/slide17.xml" Id="Reb8d511bda1147c6" /><Relationship Type="http://schemas.openxmlformats.org/officeDocument/2006/relationships/slide" Target="/ppt/slides/slide18.xml" Id="R4b58a5a04d854b09" /><Relationship Type="http://schemas.openxmlformats.org/officeDocument/2006/relationships/slide" Target="/ppt/slides/slide19.xml" Id="R3c92ed78ece04467" /><Relationship Type="http://schemas.openxmlformats.org/officeDocument/2006/relationships/slide" Target="/ppt/slides/slide20.xml" Id="Rfb592fc9f97c4ff5" /><Relationship Type="http://schemas.openxmlformats.org/officeDocument/2006/relationships/slide" Target="/ppt/slides/slide21.xml" Id="R1ad29c239d3e471c" /><Relationship Type="http://schemas.openxmlformats.org/officeDocument/2006/relationships/slide" Target="/ppt/slides/slide22.xml" Id="Rf7bfb8c69ced4b97" /><Relationship Type="http://schemas.openxmlformats.org/officeDocument/2006/relationships/slide" Target="/ppt/slides/slide23.xml" Id="R68edf4781d414e6c" /><Relationship Type="http://schemas.openxmlformats.org/officeDocument/2006/relationships/slide" Target="/ppt/slides/slide24.xml" Id="Ra3053a4370e84788" /><Relationship Type="http://schemas.openxmlformats.org/officeDocument/2006/relationships/slide" Target="/ppt/slides/slide25.xml" Id="R7a6ab16d98f84225" /><Relationship Type="http://schemas.openxmlformats.org/officeDocument/2006/relationships/slide" Target="/ppt/slides/slide26.xml" Id="R4621b644ad4b4342" /><Relationship Type="http://schemas.openxmlformats.org/officeDocument/2006/relationships/slide" Target="/ppt/slides/slide27.xml" Id="Rb7638f7cbc454f0a" /><Relationship Type="http://schemas.openxmlformats.org/officeDocument/2006/relationships/slide" Target="/ppt/slides/slide28.xml" Id="Rc2bda4560085456a" /><Relationship Type="http://schemas.openxmlformats.org/officeDocument/2006/relationships/slide" Target="/ppt/slides/slide29.xml" Id="Rd7dbaef211944bcb" /><Relationship Type="http://schemas.openxmlformats.org/officeDocument/2006/relationships/slide" Target="/ppt/slides/slide30.xml" Id="Rb6100b8035574ff2" /><Relationship Type="http://schemas.openxmlformats.org/officeDocument/2006/relationships/slide" Target="/ppt/slides/slide31.xml" Id="Re7a2ea4e655a44d0" /><Relationship Type="http://schemas.openxmlformats.org/officeDocument/2006/relationships/slide" Target="/ppt/slides/slide32.xml" Id="R01a185952c2b4560" /><Relationship Type="http://schemas.openxmlformats.org/officeDocument/2006/relationships/slide" Target="/ppt/slides/slide33.xml" Id="Rb0a4c30be9b3478b" /><Relationship Type="http://schemas.openxmlformats.org/officeDocument/2006/relationships/slide" Target="/ppt/slides/slide34.xml" Id="R994da018f9134684" /><Relationship Type="http://schemas.openxmlformats.org/officeDocument/2006/relationships/slide" Target="/ppt/slides/slide35.xml" Id="Rf93a5131b93c479b" /><Relationship Type="http://schemas.openxmlformats.org/officeDocument/2006/relationships/slide" Target="/ppt/slides/slide36.xml" Id="R7264a54e4148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884999795d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16496bd244cb0" /><Relationship Type="http://schemas.openxmlformats.org/officeDocument/2006/relationships/notesMaster" Target="/ppt/notesMasters/notesMaster1.xml" Id="R96e10beb79ff4f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d9fc21185845f4" /><Relationship Type="http://schemas.openxmlformats.org/officeDocument/2006/relationships/notesMaster" Target="/ppt/notesMasters/notesMaster1.xml" Id="R939fe48dea3943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bbb070794541dc" /><Relationship Type="http://schemas.openxmlformats.org/officeDocument/2006/relationships/notesMaster" Target="/ppt/notesMasters/notesMaster1.xml" Id="R6f6361b0285549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35d3d435ff44d0" /><Relationship Type="http://schemas.openxmlformats.org/officeDocument/2006/relationships/notesMaster" Target="/ppt/notesMasters/notesMaster1.xml" Id="Rcc7de56cc34543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0dcb5ee824ff5" /><Relationship Type="http://schemas.openxmlformats.org/officeDocument/2006/relationships/notesMaster" Target="/ppt/notesMasters/notesMaster1.xml" Id="R28725c7865874d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8a0d81a7014c40" /><Relationship Type="http://schemas.openxmlformats.org/officeDocument/2006/relationships/notesMaster" Target="/ppt/notesMasters/notesMaster1.xml" Id="R5fa97c317f764e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1c8145e96d4211" /><Relationship Type="http://schemas.openxmlformats.org/officeDocument/2006/relationships/notesMaster" Target="/ppt/notesMasters/notesMaster1.xml" Id="R59713b18a5bf44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6c642b945b40ec" /><Relationship Type="http://schemas.openxmlformats.org/officeDocument/2006/relationships/notesMaster" Target="/ppt/notesMasters/notesMaster1.xml" Id="Rbc2f137cb92d47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ee20933744e3b" /><Relationship Type="http://schemas.openxmlformats.org/officeDocument/2006/relationships/notesMaster" Target="/ppt/notesMasters/notesMaster1.xml" Id="R6b7ffea1e07d48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5906edd3b14da4" /><Relationship Type="http://schemas.openxmlformats.org/officeDocument/2006/relationships/notesMaster" Target="/ppt/notesMasters/notesMaster1.xml" Id="R878682aa65ed4e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ed88d20f934320" /><Relationship Type="http://schemas.openxmlformats.org/officeDocument/2006/relationships/notesMaster" Target="/ppt/notesMasters/notesMaster1.xml" Id="Rb488fa2da4364f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52762db05740b6" /><Relationship Type="http://schemas.openxmlformats.org/officeDocument/2006/relationships/notesMaster" Target="/ppt/notesMasters/notesMaster1.xml" Id="R9039cd837da648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44ec56678743a5" /><Relationship Type="http://schemas.openxmlformats.org/officeDocument/2006/relationships/notesMaster" Target="/ppt/notesMasters/notesMaster1.xml" Id="R494c6baaf67443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d6b4e05cd34d62" /><Relationship Type="http://schemas.openxmlformats.org/officeDocument/2006/relationships/notesMaster" Target="/ppt/notesMasters/notesMaster1.xml" Id="R07af97496e134b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aeed1649e14ca6" /><Relationship Type="http://schemas.openxmlformats.org/officeDocument/2006/relationships/notesMaster" Target="/ppt/notesMasters/notesMaster1.xml" Id="R4eaf0f87e13544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0d357aa8a24477" /><Relationship Type="http://schemas.openxmlformats.org/officeDocument/2006/relationships/notesMaster" Target="/ppt/notesMasters/notesMaster1.xml" Id="Rc5aaecb3eea14c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73a0baebe0462f" /><Relationship Type="http://schemas.openxmlformats.org/officeDocument/2006/relationships/notesMaster" Target="/ppt/notesMasters/notesMaster1.xml" Id="R9783013844ee48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84fd0d64c54429" /><Relationship Type="http://schemas.openxmlformats.org/officeDocument/2006/relationships/notesMaster" Target="/ppt/notesMasters/notesMaster1.xml" Id="R95b0a315f18d43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590d12e7234057" /><Relationship Type="http://schemas.openxmlformats.org/officeDocument/2006/relationships/notesMaster" Target="/ppt/notesMasters/notesMaster1.xml" Id="R93161724ae0240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071fd23f7441da" /><Relationship Type="http://schemas.openxmlformats.org/officeDocument/2006/relationships/notesMaster" Target="/ppt/notesMasters/notesMaster1.xml" Id="R335da56d7ebc41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c3fa73eecb4a89" /><Relationship Type="http://schemas.openxmlformats.org/officeDocument/2006/relationships/notesMaster" Target="/ppt/notesMasters/notesMaster1.xml" Id="Ra67a0e12a5ee4ad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7dc8f10a7b4f3b" /><Relationship Type="http://schemas.openxmlformats.org/officeDocument/2006/relationships/notesMaster" Target="/ppt/notesMasters/notesMaster1.xml" Id="Rca79801ea12947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2f13b0cab6488f" /><Relationship Type="http://schemas.openxmlformats.org/officeDocument/2006/relationships/notesMaster" Target="/ppt/notesMasters/notesMaster1.xml" Id="R86ad50f8183042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e45d407812479e" /><Relationship Type="http://schemas.openxmlformats.org/officeDocument/2006/relationships/notesMaster" Target="/ppt/notesMasters/notesMaster1.xml" Id="Rb1e0f6478e874af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7dbe7c31b441bb" /><Relationship Type="http://schemas.openxmlformats.org/officeDocument/2006/relationships/notesMaster" Target="/ppt/notesMasters/notesMaster1.xml" Id="R1c96692e225f4b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6e365ee61df4f01" /><Relationship Type="http://schemas.openxmlformats.org/officeDocument/2006/relationships/notesMaster" Target="/ppt/notesMasters/notesMaster1.xml" Id="R8d6a905307654b6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4887d0b70fc4b0a" /><Relationship Type="http://schemas.openxmlformats.org/officeDocument/2006/relationships/notesMaster" Target="/ppt/notesMasters/notesMaster1.xml" Id="R953e35b59a824c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55683a34514b5c" /><Relationship Type="http://schemas.openxmlformats.org/officeDocument/2006/relationships/notesMaster" Target="/ppt/notesMasters/notesMaster1.xml" Id="R6551d325d4be4e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9edc46eefd047ac" /><Relationship Type="http://schemas.openxmlformats.org/officeDocument/2006/relationships/notesMaster" Target="/ppt/notesMasters/notesMaster1.xml" Id="R2e43ef5325d6466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ffbbf3e3ea641da" /><Relationship Type="http://schemas.openxmlformats.org/officeDocument/2006/relationships/notesMaster" Target="/ppt/notesMasters/notesMaster1.xml" Id="Redca800aedb94e1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f4b2e01153c4ec1" /><Relationship Type="http://schemas.openxmlformats.org/officeDocument/2006/relationships/notesMaster" Target="/ppt/notesMasters/notesMaster1.xml" Id="Rdff6855f3e0c472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b5d213bbce4057" /><Relationship Type="http://schemas.openxmlformats.org/officeDocument/2006/relationships/notesMaster" Target="/ppt/notesMasters/notesMaster1.xml" Id="R8d357f95ac8647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d979615f85948f8" /><Relationship Type="http://schemas.openxmlformats.org/officeDocument/2006/relationships/notesMaster" Target="/ppt/notesMasters/notesMaster1.xml" Id="R82f842a3a3e846c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a70aab00d104642" /><Relationship Type="http://schemas.openxmlformats.org/officeDocument/2006/relationships/notesMaster" Target="/ppt/notesMasters/notesMaster1.xml" Id="Rf2da4396ef07450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74a5174b0e94920" /><Relationship Type="http://schemas.openxmlformats.org/officeDocument/2006/relationships/notesMaster" Target="/ppt/notesMasters/notesMaster1.xml" Id="Rf24f9bb5a0a549e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a6545d543f4493" /><Relationship Type="http://schemas.openxmlformats.org/officeDocument/2006/relationships/notesMaster" Target="/ppt/notesMasters/notesMaster1.xml" Id="Rc0fa5c1f41cc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1: Copilot Studio Day 2</a:t>
            </a:r>
          </a:p>
          <a:p xmlns:a="http://schemas.openxmlformats.org/drawingml/2006/main">
            <a:r>
              <a:t>Teach: วันนี้ผู้ช่วยจะตอบจากคู่มือ รับเรื่อง และส่งสรุปจากข้อมูลฝึก</a:t>
            </a:r>
          </a:p>
          <a:p xmlns:a="http://schemas.openxmlformats.org/drawingml/2006/main">
            <a:r>
              <a:t>Speaker cue: ใช้ TRAIN-002 และสินค้าตัวอย่าง 10/8 กล่องเป็นเรื่องเดียวตลอดวัน ระบุว่าเป็นเรื่องสมมติ</a:t>
            </a:r>
          </a:p>
          <a:p xmlns:a="http://schemas.openxmlformats.org/drawingml/2006/main">
            <a:r>
              <a:t>Analogy bridge: Front-counter support assistant → Copilot Studio agent → today we will build the conversation, evidence source, and handoff to Agent Flow.</a:t>
            </a:r>
          </a:p>
          <a:p xmlns:a="http://schemas.openxmlformats.org/drawingml/2006/main">
            <a:r>
              <a:t>Learner link: [Learner journey](./README.md)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2: A question becomes a support request</a:t>
            </a:r>
          </a:p>
          <a:p xmlns:a="http://schemas.openxmlformats.org/drawingml/2006/main">
            <a:r>
              <a:t>Teach: “ต้องเตรียมอะไร” ควรตอบจาก Knowledge แต่ “ช่วยแจ้งปัญหา” ควรเริ่ม Topic รับข้อมูล</a:t>
            </a:r>
          </a:p>
          <a:p xmlns:a="http://schemas.openxmlformats.org/drawingml/2006/main">
            <a:r>
              <a:t>Speaker cue: ให้ผู้เรียนบอกว่าเมื่อใดควรตอบและเมื่อใดต้องถามข้อมูลเพิ่ม</a:t>
            </a:r>
          </a:p>
          <a:p xmlns:a="http://schemas.openxmlformats.org/drawingml/2006/main">
            <a:r>
              <a:t>Learner link: [Example conversations](./files/sample-conversations.md)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3: Knowledge, Topics and Tools</a:t>
            </a:r>
          </a:p>
          <a:p xmlns:a="http://schemas.openxmlformats.org/drawingml/2006/main">
            <a:r>
              <a:t>Teach: Knowledge คือคู่มือ, Topic คือขั้นตอนสนทนา, Tool คือ action ที่เรียกใช้งาน</a:t>
            </a:r>
          </a:p>
          <a:p xmlns:a="http://schemas.openxmlformats.org/drawingml/2006/main">
            <a:r>
              <a:t>Speaker cue: เชื่อมกับ Day 1: flow ทำขั้นตอน ส่วน agent ช่วยคุยรับข้อมูล</a:t>
            </a:r>
          </a:p>
          <a:p xmlns:a="http://schemas.openxmlformats.org/drawingml/2006/main">
            <a:r>
              <a:t>Analogy bridge: คู่มือหลังเคาน์เตอร์ → Knowledge; ลำดับคำถาม → Topic; งานที่ส่งต่อหลังยืนยัน → Tool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4: Six visible outcomes</a:t>
            </a:r>
          </a:p>
          <a:p xmlns:a="http://schemas.openxmlformats.org/drawingml/2006/main">
            <a:r>
              <a:t>Teach: ทุก Exercise จบด้วยผลที่ตรวจได้ ตั้งแต่ agent identity จนถึง published experience</a:t>
            </a:r>
          </a:p>
          <a:p xmlns:a="http://schemas.openxmlformats.org/drawingml/2006/main">
            <a:r>
              <a:t>Speaker cue: แสดงภาพอีเมลสำเร็จเป็นปลายทางก่อนเริ่ม build</a:t>
            </a:r>
          </a:p>
          <a:p xmlns:a="http://schemas.openxmlformats.org/drawingml/2006/main">
            <a:r>
              <a:t>Learner link: [Exercise index](./README.md#เส้นทางการฝึก)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5: The organizer-prepared environment</a:t>
            </a:r>
          </a:p>
          <a:p xmlns:a="http://schemas.openxmlformats.org/drawingml/2006/main">
            <a:r>
              <a:t>Teach: ทุกคนเลือก environment ที่ผู้จัดอบรมเตรียม ไม่สร้างใหม่หรือสลับ authoring route</a:t>
            </a:r>
          </a:p>
          <a:p xmlns:a="http://schemas.openxmlformats.org/drawingml/2006/main">
            <a:r>
              <a:t>Speaker cue: เปรียบกับเข้าอบรมให้ถูกห้องก่อนเปิดคู่มือ</a:t>
            </a:r>
          </a:p>
          <a:p xmlns:a="http://schemas.openxmlformats.org/drawingml/2006/main">
            <a:r>
              <a:t>Learner link: [Exercise 1 Practice 1](./exercises/01-create-assistant/README.md)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6: Prepared learner resources</a:t>
            </a:r>
          </a:p>
          <a:p xmlns:a="http://schemas.openxmlformats.org/drawingml/2006/main">
            <a:r>
              <a:t>Teach: บัญชี, environment, Knowledge upload, Agent Flow และ channel ถูกกำหนดไว้ก่อนคลาส</a:t>
            </a:r>
          </a:p>
          <a:p xmlns:a="http://schemas.openxmlformats.org/drawingml/2006/main">
            <a:r>
              <a:t>Speaker cue: หากหน้า UI หรือ capability ไม่ตรง ให้หยุดแจ้งวิทยากร ไม่แก้ setup เองกลางชั้นเรียน</a:t>
            </a:r>
          </a:p>
          <a:p xmlns:a="http://schemas.openxmlformats.org/drawingml/2006/main">
            <a:r>
              <a:t>Learner link: [Readiness checklist](./instructor-readiness-checklist.md)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7: Agent identity and purpose</a:t>
            </a:r>
          </a:p>
          <a:p xmlns:a="http://schemas.openxmlformats.org/drawingml/2006/main">
            <a:r>
              <a:t>Teach: ชื่อและ description บอกงานเดียวที่ผู้ช่วยรับผิดชอบ</a:t>
            </a:r>
          </a:p>
          <a:p xmlns:a="http://schemas.openxmlformats.org/drawingml/2006/main">
            <a:r>
              <a:t>Speaker cue: ให้ทุกคนเติมชื่อเล่นท้าย agent แล้วสร้างด้วยตัวเอง</a:t>
            </a:r>
          </a:p>
          <a:p xmlns:a="http://schemas.openxmlformats.org/drawingml/2006/main">
            <a:r>
              <a:t>Learner link: [Exercise 1](./exercises/01-create-assistant/README.md)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8: Instructions and boundaries</a:t>
            </a:r>
          </a:p>
          <a:p xmlns:a="http://schemas.openxmlformats.org/drawingml/2006/main">
            <a:r>
              <a:t>Teach: ระบุแหล่งข้อมูล ขอบเขต และสิ่งที่ไม่มีข้อมูล ไม่แต่ง SLA หรือ stock</a:t>
            </a:r>
          </a:p>
          <a:p xmlns:a="http://schemas.openxmlformats.org/drawingml/2006/main">
            <a:r>
              <a:t>Speaker cue: ทดสอบ “ช่วยอะไรได้บ้าง” ก่อนเพิ่ม Knowledge</a:t>
            </a:r>
          </a:p>
          <a:p xmlns:a="http://schemas.openxmlformats.org/drawingml/2006/main">
            <a:r>
              <a:t>Analogy bridge: ขอบเขตหน้าที่ของพนักงานเคาน์เตอร์ → Instructions → agent บอกได้ว่าช่วยอะไรและหยุดเมื่อข้อมูลไม่พอ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9: Generative answers from a guide</a:t>
            </a:r>
          </a:p>
          <a:p xmlns:a="http://schemas.openxmlformats.org/drawingml/2006/main">
            <a:r>
              <a:t>Teach: ผู้ช่วยตอบจากไฟล์ที่อัปโหลด ไม่ใช่การอ่านข้อมูลปฏิบัติการแบบ live</a:t>
            </a:r>
          </a:p>
          <a:p xmlns:a="http://schemas.openxmlformats.org/drawingml/2006/main">
            <a:r>
              <a:t>Speaker cue: ตัวเลข 10/8 เป็นข้อมูลฝึก ไม่ใช่ stock จริง</a:t>
            </a:r>
          </a:p>
          <a:p xmlns:a="http://schemas.openxmlformats.org/drawingml/2006/main">
            <a:r>
              <a:t>Analogy bridge: เปิดคู่มือที่อนุมัติก่อนตอบ → Knowledge grounding → ตรวจคำตอบกับข้อความในไฟล์ฝึก</a:t>
            </a:r>
          </a:p>
          <a:p xmlns:a="http://schemas.openxmlformats.org/drawingml/2006/main">
            <a:r>
              <a:t>Learner link: [Knowledge guide](./files/cpall-store-support-guide.txt)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10: Knowledge ingestion</a:t>
            </a:r>
          </a:p>
          <a:p xmlns:a="http://schemas.openxmlformats.org/drawingml/2006/main">
            <a:r>
              <a:t>Teach: เพิ่มไฟล์ ตั้ง description และรอ Ready ก่อนวัดคำตอบ</a:t>
            </a:r>
          </a:p>
          <a:p xmlns:a="http://schemas.openxmlformats.org/drawingml/2006/main">
            <a:r>
              <a:t>Speaker cue: อัปโหลดเฉพาะไฟล์ `.txt` สองไฟล์ ไม่ใส่ test cases</a:t>
            </a:r>
          </a:p>
          <a:p xmlns:a="http://schemas.openxmlformats.org/drawingml/2006/main">
            <a:r>
              <a:t>Analogy bridge: นำคู่มือเข้าชั้นเอกสารและรอจัดเก็บเสร็จ → upload Knowledge and wait for Ready → จึงเริ่ม supported/unsupported tests</a:t>
            </a:r>
          </a:p>
          <a:p xmlns:a="http://schemas.openxmlformats.org/drawingml/2006/main">
            <a:r>
              <a:t>Learner link: [Exercise 2](./exercises/02-add-knowledge/README.md)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11: Evidence in an answer</a:t>
            </a:r>
          </a:p>
          <a:p xmlns:a="http://schemas.openxmlformats.org/drawingml/2006/main">
            <a:r>
              <a:t>Teach: เปิดแหล่งอ้างอิงเมื่อมีและเทียบคำตอบกับข้อความในคู่มือ</a:t>
            </a:r>
          </a:p>
          <a:p xmlns:a="http://schemas.openxmlformats.org/drawingml/2006/main">
            <a:r>
              <a:t>Speaker cue: ใช้ K1 แล้วให้ผู้เรียนชี้ข้อความที่สนับสนุนคำตอบ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12: Missing information and scope</a:t>
            </a:r>
          </a:p>
          <a:p xmlns:a="http://schemas.openxmlformats.org/drawingml/2006/main">
            <a:r>
              <a:t>Teach: เมื่อคู่มือไม่มีข้อมูล ผู้ช่วยควรบอกว่าไม่พบ ไม่เติมคำตอบให้ดูครบ</a:t>
            </a:r>
          </a:p>
          <a:p xmlns:a="http://schemas.openxmlformats.org/drawingml/2006/main">
            <a:r>
              <a:t>Speaker cue: ใช้ K2/K3 ตรวจ boundary ก่อนพัก</a:t>
            </a:r>
          </a:p>
          <a:p xmlns:a="http://schemas.openxmlformats.org/drawingml/2006/main">
            <a:r>
              <a:t>Learner link: [Knowledge test cases](./files/sample-conversations.md)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13: Topic routing</a:t>
            </a:r>
          </a:p>
          <a:p xmlns:a="http://schemas.openxmlformats.org/drawingml/2006/main">
            <a:r>
              <a:t>Teach: Classic ใช้ trigger phrases; core นี้ใช้ `The agent chooses` กับ description ที่ชัด</a:t>
            </a:r>
          </a:p>
          <a:p xmlns:a="http://schemas.openxmlformats.org/drawingml/2006/main">
            <a:r>
              <a:t>Speaker cue: อธิบายความต่างโดยไม่สลับ agent ไปมาระหว่าง modes</a:t>
            </a:r>
          </a:p>
          <a:p xmlns:a="http://schemas.openxmlformats.org/drawingml/2006/main">
            <a:r>
              <a:t>Learner link: [Exercise 3 Practice 1](./exercises/03-request-topic/README.md)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14: Store Support Request</a:t>
            </a:r>
          </a:p>
          <a:p xmlns:a="http://schemas.openxmlformats.org/drawingml/2006/main">
            <a:r>
              <a:t>Teach: Topic เก็บข้อมูลเพื่อแจ้งเรื่อง ส่วนคำถามทั่วไปตอบผ่าน Knowledge</a:t>
            </a:r>
          </a:p>
          <a:p xmlns:a="http://schemas.openxmlformats.org/drawingml/2006/main">
            <a:r>
              <a:t>Speaker cue: เปรียบกับเจ้าหน้าที่เลือก “ตอบคำถาม” หรือ “เปิดใบรับเรื่อง”</a:t>
            </a:r>
          </a:p>
          <a:p xmlns:a="http://schemas.openxmlformats.org/drawingml/2006/main">
            <a:r>
              <a:t>Analogy bridge: แบบคำถามประจำเคาน์เตอร์ → Topic → เริ่มจาก Trigger phrases แล้วถามข้อมูลตามลำดับที่ตรวจได้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15: Questions and captured values</a:t>
            </a:r>
          </a:p>
          <a:p xmlns:a="http://schemas.openxmlformats.org/drawingml/2006/main">
            <a:r>
              <a:t>Teach: StoreCode, category และ IssueDescription คือข้อมูลของคำขอครั้งนี้</a:t>
            </a:r>
          </a:p>
          <a:p xmlns:a="http://schemas.openxmlformats.org/drawingml/2006/main">
            <a:r>
              <a:t>Speaker cue: ยังไม่มีระบบตรวจรหัสสาขาแบบ live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16: Branching by issue category</a:t>
            </a:r>
          </a:p>
          <a:p xmlns:a="http://schemas.openxmlformats.org/drawingml/2006/main">
            <a:r>
              <a:t>Teach: Equipment และ Delivery ให้คำแนะนำต่างกัน แล้วกลับมารวมที่รายละเอียดคำขอ</a:t>
            </a:r>
          </a:p>
          <a:p xmlns:a="http://schemas.openxmlformats.org/drawingml/2006/main">
            <a:r>
              <a:t>Speaker cue: ทดสอบทั้งสองหมวดเพื่อพิสูจน์ routing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17: Fallback and clarification</a:t>
            </a:r>
          </a:p>
          <a:p xmlns:a="http://schemas.openxmlformats.org/drawingml/2006/main">
            <a:r>
              <a:t>Teach: System Fallback และ generative clarification อาจเกิดคนละเส้นทาง</a:t>
            </a:r>
          </a:p>
          <a:p xmlns:a="http://schemas.openxmlformats.org/drawingml/2006/main">
            <a:r>
              <a:t>Speaker cue: แก้เฉพาะข้อความช่วยผู้ใช้ ไม่แต่ง escalation ที่ยังไม่มี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18: Entity and Variable</a:t>
            </a:r>
          </a:p>
          <a:p xmlns:a="http://schemas.openxmlformats.org/drawingml/2006/main">
            <a:r>
              <a:t>Teach: Entity บอกชนิด/หมวด ส่วน Variable เก็บค่าที่ได้ในรอบนี้</a:t>
            </a:r>
          </a:p>
          <a:p xmlns:a="http://schemas.openxmlformats.org/drawingml/2006/main">
            <a:r>
              <a:t>Speaker cue: “เครื่องพิมพ์” จัดเป็น Equipment แต่ StoreCode เป็นอีกข้อมูลหนึ่ง</a:t>
            </a:r>
          </a:p>
          <a:p xmlns:a="http://schemas.openxmlformats.org/drawingml/2006/main">
            <a:r>
              <a:t>Analogy bridge: พนักงานเข้าใจคำเรียกหลายแบบและจดคำมาตรฐาน → Entity and Variable → ทดสอบ synonym แล้วตรวจค่าที่เก็บ</a:t>
            </a:r>
          </a:p>
          <a:p xmlns:a="http://schemas.openxmlformats.org/drawingml/2006/main">
            <a:r>
              <a:t>Learner link: [Exercise 4](./exercises/04-entities-and-confirmation/README.md)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19: Built-in Boolean</a:t>
            </a:r>
          </a:p>
          <a:p xmlns:a="http://schemas.openxmlformats.org/drawingml/2006/main">
            <a:r>
              <a:t>Teach: ใช้ Boolean สำหรับผล Yes/No ที่ต้องควบคุมการส่ง</a:t>
            </a:r>
          </a:p>
          <a:p xmlns:a="http://schemas.openxmlformats.org/drawingml/2006/main">
            <a:r>
              <a:t>Speaker cue: ข้อความ `true` ไม่ใช่ Boolean `true`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20: Custom category and synonyms</a:t>
            </a:r>
          </a:p>
          <a:p xmlns:a="http://schemas.openxmlformats.org/drawingml/2006/main">
            <a:r>
              <a:t>Teach: Closed list เล็ก ๆ รองรับ Equipment, Delivery และคำพ้องที่ผู้เรียนใช้</a:t>
            </a:r>
          </a:p>
          <a:p xmlns:a="http://schemas.openxmlformats.org/drawingml/2006/main">
            <a:r>
              <a:t>Speaker cue: ไม่เพิ่มหมวดที่ Topic ยังไม่มี branch รองรับ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21: Variable scope and types</a:t>
            </a:r>
          </a:p>
          <a:p xmlns:a="http://schemas.openxmlformats.org/drawingml/2006/main">
            <a:r>
              <a:t>Teach: ใช้ Topic variables และแปลง entity เป็น CategoryLabel String ก่อนส่งต่อ</a:t>
            </a:r>
          </a:p>
          <a:p xmlns:a="http://schemas.openxmlformats.org/drawingml/2006/main">
            <a:r>
              <a:t>Speaker cue: ค่าจากคำขอรอบก่อนต้องไม่รั่วเข้าสู่รอบใหม่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22: Build RequestSummary</a:t>
            </a:r>
          </a:p>
          <a:p xmlns:a="http://schemas.openxmlformats.org/drawingml/2006/main">
            <a:r>
              <a:t>Teach: Summary ประกอบจากค่าที่ผู้ใช้ให้ ไม่ใช่ข้อความที่ AI เดา</a:t>
            </a:r>
          </a:p>
          <a:p xmlns:a="http://schemas.openxmlformats.org/drawingml/2006/main">
            <a:r>
              <a:t>Speaker cue: อ่านสูตรทีละส่วนและชี้การขึ้นบรรทัดใหม่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23: Reusable confirmation Topic</a:t>
            </a:r>
          </a:p>
          <a:p xmlns:a="http://schemas.openxmlformats.org/drawingml/2006/main">
            <a:r>
              <a:t>Teach: Topic ย่อยรับ SummaryText และคืน SendConfirmed แบบ Boolean</a:t>
            </a:r>
          </a:p>
          <a:p xmlns:a="http://schemas.openxmlformats.org/drawingml/2006/main">
            <a:r>
              <a:t>Speaker cue: เหมือนส่งใบงานให้ผู้ตรวจและรับผลกลับ ผู้เรียกต้อง map ทั้งสองด้าน</a:t>
            </a:r>
          </a:p>
          <a:p xmlns:a="http://schemas.openxmlformats.org/drawingml/2006/main">
            <a:r>
              <a:t>Analogy bridge: อ่านใบรับเรื่องกลับให้ผู้ขอยืนยัน → reusable confirmation Topic → Yes เดินหน้าส่งงาน, No จบโดยไม่ส่ง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24: Yes continues, No stops</a:t>
            </a:r>
          </a:p>
          <a:p xmlns:a="http://schemas.openxmlformats.org/drawingml/2006/main">
            <a:r>
              <a:t>Teach: UserConfirmed=true ไปต่อ; false จบโดยไม่ส่ง</a:t>
            </a:r>
          </a:p>
          <a:p xmlns:a="http://schemas.openxmlformats.org/drawingml/2006/main">
            <a:r>
              <a:t>Speaker cue: ทดสอบ Yes/No ก่อนพักกลางวัน ตอนนี้ยังไม่มีอีเมลจริง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25: Topic trigger and flow trigger</a:t>
            </a:r>
          </a:p>
          <a:p xmlns:a="http://schemas.openxmlformats.org/drawingml/2006/main">
            <a:r>
              <a:t>Teach: Topic จัดการบทสนทนา; `When an agent calls the flow` เริ่ม action เมื่อ Topic เรียก</a:t>
            </a:r>
          </a:p>
          <a:p xmlns:a="http://schemas.openxmlformats.org/drawingml/2006/main">
            <a:r>
              <a:t>Speaker cue: เปรียบกับ Forms trigger ของ Day 1 เพื่อแยกจุดเริ่มให้ชัด</a:t>
            </a:r>
          </a:p>
          <a:p xmlns:a="http://schemas.openxmlformats.org/drawingml/2006/main">
            <a:r>
              <a:t>Analogy bridge: ผู้ช่วยหน้าเคาน์เตอร์เริ่มรับเรื่อง → Topic trigger; การส่งใบที่ยืนยันแล้วให้หลังร้าน → Agent Flow trigger</a:t>
            </a:r>
          </a:p>
          <a:p xmlns:a="http://schemas.openxmlformats.org/drawingml/2006/main">
            <a:r>
              <a:t>Learner link: [Exercise 5](./exercises/05-email-agent-flow/README.md)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26: Flow inputs and output</a:t>
            </a:r>
          </a:p>
          <a:p xmlns:a="http://schemas.openxmlformats.org/drawingml/2006/main">
            <a:r>
              <a:t>Teach: ส่ง StoreCode และ RequestSummary เข้า แล้วรับ ResponseMessage กลับ</a:t>
            </a:r>
          </a:p>
          <a:p xmlns:a="http://schemas.openxmlformats.org/drawingml/2006/main">
            <a:r>
              <a:t>Speaker cue: ผู้รับกำหนดไว้ใน flow ไม่เปิดช่องให้ agent เปลี่ยนจากแชต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27: Outlook action and connection</a:t>
            </a:r>
          </a:p>
          <a:p xmlns:a="http://schemas.openxmlformats.org/drawingml/2006/main">
            <a:r>
              <a:t>Teach: `Send an email (V2)` ส่งหนึ่งอีเมลผ่าน mailbox ฝึก</a:t>
            </a:r>
          </a:p>
          <a:p xmlns:a="http://schemas.openxmlformats.org/drawingml/2006/main">
            <a:r>
              <a:t>Speaker cue: ทดสอบอีเมลก่อนนำ tool กลับไปผูก Topic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28: Controlled tool invocation</a:t>
            </a:r>
          </a:p>
          <a:p xmlns:a="http://schemas.openxmlformats.org/drawingml/2006/main">
            <a:r>
              <a:t>Teach: ปิด dynamic invocation แล้วเรียก tool เฉพาะ UserConfirmed=true</a:t>
            </a:r>
          </a:p>
          <a:p xmlns:a="http://schemas.openxmlformats.org/drawingml/2006/main">
            <a:r>
              <a:t>Speaker cue: Instructions อย่างเดียวไม่แทนเงื่อนไขใน Topic</a:t>
            </a:r>
          </a:p>
          <a:p xmlns:a="http://schemas.openxmlformats.org/drawingml/2006/main">
            <a:r>
              <a:t>Analogy bridge: ส่งใบให้ผู้ช่วยหลังร้านหลังผู้ขอยืนยัน → Tool invocation → Yes ส่งอีเมลหนึ่งฉบับ, No ส่งศูนย์ฉบับ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29: Response and evidence</a:t>
            </a:r>
          </a:p>
          <a:p xmlns:a="http://schemas.openxmlformats.org/drawingml/2006/main">
            <a:r>
              <a:t>Teach: หลังส่งสำเร็จ Respond คืนข้อความ; ต้องเห็น run และ Inbox ประกอบ</a:t>
            </a:r>
          </a:p>
          <a:p xmlns:a="http://schemas.openxmlformats.org/drawingml/2006/main">
            <a:r>
              <a:t>Speaker cue: ถ้า action fail ห้ามบอก success และตรวจการส่งซ้ำก่อน retry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30: Agent performance evidence</a:t>
            </a:r>
          </a:p>
          <a:p xmlns:a="http://schemas.openxmlformats.org/drawingml/2006/main">
            <a:r>
              <a:t>Teach: Test trace ดู route/tool, flow history ดู action, Analytics ดูภาพรวมเมื่อมีข้อมูล</a:t>
            </a:r>
          </a:p>
          <a:p xmlns:a="http://schemas.openxmlformats.org/drawingml/2006/main">
            <a:r>
              <a:t>Speaker cue: ใช้ prepared analytics เมื่อข้อมูลสดยังไม่ขึ้น และระบุว่าเป็น demo data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31: A completed support request</a:t>
            </a:r>
          </a:p>
          <a:p xmlns:a="http://schemas.openxmlformats.org/drawingml/2006/main">
            <a:r>
              <a:t>Teach: ถามคู่มือ แจ้งปัญหา ตรวจ summary และส่ง โดยใช้ข้อมูลเดียวตลอดเรื่อง</a:t>
            </a:r>
          </a:p>
          <a:p xmlns:a="http://schemas.openxmlformats.org/drawingml/2006/main">
            <a:r>
              <a:t>Speaker cue: ใช้ F1/F2 ตรวจ Yes และ No; No ต้องไม่มีอีเมล</a:t>
            </a:r>
          </a:p>
          <a:p xmlns:a="http://schemas.openxmlformats.org/drawingml/2006/main">
            <a:r>
              <a:t>Learner link: [Flow test cases](./files/sample-conversations.md)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32: Authentication and audience</a:t>
            </a:r>
          </a:p>
          <a:p xmlns:a="http://schemas.openxmlformats.org/drawingml/2006/main">
            <a:r>
              <a:t>Teach: ใช้ channel และผู้ใช้ที่ผู้จัดอบรมอนุญาตเท่านั้น</a:t>
            </a:r>
          </a:p>
          <a:p xmlns:a="http://schemas.openxmlformats.org/drawingml/2006/main">
            <a:r>
              <a:t>Speaker cue: หาก policy ไม่พร้อม ใช้ demo ไม่เปลี่ยนเป็น public/no authentication</a:t>
            </a:r>
          </a:p>
          <a:p xmlns:a="http://schemas.openxmlformats.org/drawingml/2006/main">
            <a:r>
              <a:t>Learner link: [Exercise 6](./exercises/06-publish-and-share/README.md)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33: Publish and channel availability</a:t>
            </a:r>
          </a:p>
          <a:p xmlns:a="http://schemas.openxmlformats.org/drawingml/2006/main">
            <a:r>
              <a:t>Teach: Publish เป็นขั้นหนึ่ง; channel อาจยังต้องรอ admin approval หรือสิทธิ์ติดตั้ง</a:t>
            </a:r>
          </a:p>
          <a:p xmlns:a="http://schemas.openxmlformats.org/drawingml/2006/main">
            <a:r>
              <a:t>Speaker cue: ใช้เส้นทางที่ rehearsal แล้ว; ถ้าไม่พร้อมให้ดู instructor demo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34: The published experience</a:t>
            </a:r>
          </a:p>
          <a:p xmlns:a="http://schemas.openxmlformats.org/drawingml/2006/main">
            <a:r>
              <a:t>Teach: เปิด conversation ใหม่ใน channel จริงและตรวจคำตอบกับ email action สั้น ๆ</a:t>
            </a:r>
          </a:p>
          <a:p xmlns:a="http://schemas.openxmlformats.org/drawingml/2006/main">
            <a:r>
              <a:t>Speaker cue: ระบุผลเป็น passed, waiting for access หรือ demo อย่างตรงไปตรงมา</a:t>
            </a:r>
          </a:p>
          <a:p xmlns:a="http://schemas.openxmlformats.org/drawingml/2006/main">
            <a:r>
              <a:t>Analogy bridge: เปิดเคาน์เตอร์บริการหลังซ้อมและตรวจสิทธิ์ → Publish/share → ทดสอบเฉพาะ channel ที่ผู้จัดเตรียมและอนุญาต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35: Agent Builder overview and demonstration</a:t>
            </a:r>
          </a:p>
          <a:p xmlns:a="http://schemas.openxmlformats.org/drawingml/2006/main">
            <a:r>
              <a:t>Teach: Agent Builder เหมาะกับการเริ่มผู้ช่วยจาก instructions และ Knowledge แบบรวดเร็ว ส่วน Copilot Studio เหมาะเมื่อจำเป็นต้องควบคุม Topics, typed variables, tools, testing และการจัดการที่ละเอียดขึ้น</a:t>
            </a:r>
          </a:p>
          <a:p xmlns:a="http://schemas.openxmlformats.org/drawingml/2006/main">
            <a:r>
              <a:t>Speaker cue: สาธิตการสร้าง agent ขนาดเล็กจาก instructions/Knowledge หรือใช้ saved result; ไม่สร้าง sample file และไม่ให้ผู้เรียนทำ hands-on</a:t>
            </a:r>
          </a:p>
          <a:p xmlns:a="http://schemas.openxmlformats.org/drawingml/2006/main">
            <a:r>
              <a:t>Boundary: อยู่เฉพาะช่วง 15:15–15:40 หลัง Exercises 1–6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36: Choose the tool and Q&amp;A</a:t>
            </a:r>
          </a:p>
          <a:p xmlns:a="http://schemas.openxmlformats.org/drawingml/2006/main">
            <a:r>
              <a:t>Teach: เลือกเครื่องมือจากความซับซ้อนของ conversation, action, control และ governance ไม่ใช่จากชื่อผลิตภัณฑ์อย่างเดียว</a:t>
            </a:r>
          </a:p>
          <a:p xmlns:a="http://schemas.openxmlformats.org/drawingml/2006/main">
            <a:r>
              <a:t>Speaker cue: ทบทวน Knowledge → Topic → Entity → confirmation → Agent Flow → publish แล้วเปิด Q&amp;A; จบ 16:00</a:t>
            </a:r>
          </a:p>
          <a:p xmlns:a="http://schemas.openxmlformats.org/drawingml/2006/main">
            <a:r>
              <a:t>Analogy bridge: Front-counter assistant = Copilot Studio; back-office operations runner = Power Automate; ใช้ agent เพื่อสนทนาและ flow เพื่อทำขั้นตอนที่กำหนด</a:t>
            </a:r>
          </a:p>
          <a:p xmlns:a="http://schemas.openxmlformats.org/drawingml/2006/main">
            <a:r>
              <a:t>Learner link: [Coverage and scope](./reference-topic-coverage.md)</a:t>
            </a:r>
          </a:p>
          <a:p xmlns:a="http://schemas.openxmlformats.org/drawingml/2006/main">
            <a:r>
              <a:t>Analogy reminder: the front-counter support assistant helps us see how a Copilot Studio agent listens, grounds answers, guides a Topic, confirms, and calls a Tool. Always return to the official term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ab56b41b9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6a71c6c0d94f06" /><Relationship Type="http://schemas.openxmlformats.org/officeDocument/2006/relationships/slideLayout" Target="/ppt/slideLayouts/slideLayout1.xml" Id="Ra037a239fddc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7a239fddc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d64382d024f2e" /><Relationship Type="http://schemas.openxmlformats.org/officeDocument/2006/relationships/image" Target="/ppt/media/image.png" Id="R40e2b4836a6948d1" /><Relationship Type="http://schemas.openxmlformats.org/officeDocument/2006/relationships/notesSlide" Target="/ppt/notesSlides/notesSlide1.xml" Id="Rf4101a49211244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c33f5fc094cc8" /><Relationship Type="http://schemas.openxmlformats.org/officeDocument/2006/relationships/notesSlide" Target="/ppt/notesSlides/notesSlide2.xml" Id="R6fd7c320601c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bccd5cb604e56" /><Relationship Type="http://schemas.openxmlformats.org/officeDocument/2006/relationships/notesSlide" Target="/ppt/notesSlides/notesSlide3.xml" Id="R0345479b371b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4101c0dbd4583" /><Relationship Type="http://schemas.openxmlformats.org/officeDocument/2006/relationships/notesSlide" Target="/ppt/notesSlides/notesSlide4.xml" Id="R9fbb3066341c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40b129e604031" /><Relationship Type="http://schemas.openxmlformats.org/officeDocument/2006/relationships/notesSlide" Target="/ppt/notesSlides/notesSlide5.xml" Id="R128d7910603447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9f00e45754e8d" /><Relationship Type="http://schemas.openxmlformats.org/officeDocument/2006/relationships/notesSlide" Target="/ppt/notesSlides/notesSlide6.xml" Id="R39c70d853cb04e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e514a2c0e42a2" /><Relationship Type="http://schemas.openxmlformats.org/officeDocument/2006/relationships/notesSlide" Target="/ppt/notesSlides/notesSlide7.xml" Id="Rf471389e8137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72be543b346f4" /><Relationship Type="http://schemas.openxmlformats.org/officeDocument/2006/relationships/notesSlide" Target="/ppt/notesSlides/notesSlide8.xml" Id="R23a475f78b7f4b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54ec560214683" /><Relationship Type="http://schemas.openxmlformats.org/officeDocument/2006/relationships/image" Target="/ppt/media/image2.png" Id="Rad0711d78c354ef1" /><Relationship Type="http://schemas.openxmlformats.org/officeDocument/2006/relationships/notesSlide" Target="/ppt/notesSlides/notesSlide9.xml" Id="R780068e5f82649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68e4892514d39" /><Relationship Type="http://schemas.openxmlformats.org/officeDocument/2006/relationships/notesSlide" Target="/ppt/notesSlides/notesSlide10.xml" Id="R79101982572d49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2137d12c24ca2" /><Relationship Type="http://schemas.openxmlformats.org/officeDocument/2006/relationships/notesSlide" Target="/ppt/notesSlides/notesSlide11.xml" Id="R58323425194d47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a4e65618b418f" /><Relationship Type="http://schemas.openxmlformats.org/officeDocument/2006/relationships/notesSlide" Target="/ppt/notesSlides/notesSlide12.xml" Id="Rb5092779182549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e85bee7e54210" /><Relationship Type="http://schemas.openxmlformats.org/officeDocument/2006/relationships/notesSlide" Target="/ppt/notesSlides/notesSlide13.xml" Id="Ra524a69021364b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eb59464504c5b" /><Relationship Type="http://schemas.openxmlformats.org/officeDocument/2006/relationships/notesSlide" Target="/ppt/notesSlides/notesSlide14.xml" Id="R2014a39348f84d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1e9e50cc24c83" /><Relationship Type="http://schemas.openxmlformats.org/officeDocument/2006/relationships/notesSlide" Target="/ppt/notesSlides/notesSlide15.xml" Id="R09b011fa35f544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8df462f854b1e" /><Relationship Type="http://schemas.openxmlformats.org/officeDocument/2006/relationships/notesSlide" Target="/ppt/notesSlides/notesSlide16.xml" Id="R8593a1e6a58f41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f1aa9498b4148" /><Relationship Type="http://schemas.openxmlformats.org/officeDocument/2006/relationships/notesSlide" Target="/ppt/notesSlides/notesSlide17.xml" Id="R28bdd8f5bdd844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cac1e17ac4afe" /><Relationship Type="http://schemas.openxmlformats.org/officeDocument/2006/relationships/notesSlide" Target="/ppt/notesSlides/notesSlide18.xml" Id="R2ebe386030ed4a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4db6c053b4261" /><Relationship Type="http://schemas.openxmlformats.org/officeDocument/2006/relationships/notesSlide" Target="/ppt/notesSlides/notesSlide19.xml" Id="Rb30fbac0829945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1c59cb8294b35" /><Relationship Type="http://schemas.openxmlformats.org/officeDocument/2006/relationships/notesSlide" Target="/ppt/notesSlides/notesSlide20.xml" Id="R20a2ca1f139d4e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ad483475a417b" /><Relationship Type="http://schemas.openxmlformats.org/officeDocument/2006/relationships/notesSlide" Target="/ppt/notesSlides/notesSlide21.xml" Id="Rf4a3373077a34d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a8904aeae496e" /><Relationship Type="http://schemas.openxmlformats.org/officeDocument/2006/relationships/notesSlide" Target="/ppt/notesSlides/notesSlide22.xml" Id="Ra65d54d0bd1843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f65d81644477e" /><Relationship Type="http://schemas.openxmlformats.org/officeDocument/2006/relationships/image" Target="/ppt/media/image3.png" Id="R9f92ae9d66ab4655" /><Relationship Type="http://schemas.openxmlformats.org/officeDocument/2006/relationships/notesSlide" Target="/ppt/notesSlides/notesSlide23.xml" Id="Rf5d5e3ffac7941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ae406b39e446d" /><Relationship Type="http://schemas.openxmlformats.org/officeDocument/2006/relationships/notesSlide" Target="/ppt/notesSlides/notesSlide24.xml" Id="Rf7002bdd62904ea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df83233f54eb3" /><Relationship Type="http://schemas.openxmlformats.org/officeDocument/2006/relationships/notesSlide" Target="/ppt/notesSlides/notesSlide25.xml" Id="R93522233b2e64a6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64088edd140b4" /><Relationship Type="http://schemas.openxmlformats.org/officeDocument/2006/relationships/notesSlide" Target="/ppt/notesSlides/notesSlide26.xml" Id="R263cb64ae2a14e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6dfe1133b44b9" /><Relationship Type="http://schemas.openxmlformats.org/officeDocument/2006/relationships/notesSlide" Target="/ppt/notesSlides/notesSlide27.xml" Id="R38e754a2da154ea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d2e3b6ff24d26" /><Relationship Type="http://schemas.openxmlformats.org/officeDocument/2006/relationships/image" Target="/ppt/media/image4.png" Id="Re18ba64a34e24444" /><Relationship Type="http://schemas.openxmlformats.org/officeDocument/2006/relationships/notesSlide" Target="/ppt/notesSlides/notesSlide28.xml" Id="Ra315c0020995480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261e8c8794153" /><Relationship Type="http://schemas.openxmlformats.org/officeDocument/2006/relationships/notesSlide" Target="/ppt/notesSlides/notesSlide29.xml" Id="R5c18967d834b41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192238d0844fa" /><Relationship Type="http://schemas.openxmlformats.org/officeDocument/2006/relationships/notesSlide" Target="/ppt/notesSlides/notesSlide30.xml" Id="R69ee0c4eb93444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36a3b1934437c" /><Relationship Type="http://schemas.openxmlformats.org/officeDocument/2006/relationships/notesSlide" Target="/ppt/notesSlides/notesSlide31.xml" Id="R7516682d0e054b4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9e09ff2a94e67" /><Relationship Type="http://schemas.openxmlformats.org/officeDocument/2006/relationships/notesSlide" Target="/ppt/notesSlides/notesSlide32.xml" Id="R84a9a0b9eaec475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4886af6b14806" /><Relationship Type="http://schemas.openxmlformats.org/officeDocument/2006/relationships/notesSlide" Target="/ppt/notesSlides/notesSlide33.xml" Id="R634de50508b2450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3e5d2da2947ee" /><Relationship Type="http://schemas.openxmlformats.org/officeDocument/2006/relationships/notesSlide" Target="/ppt/notesSlides/notesSlide34.xml" Id="R1e4d1a802f3c41a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972f1d5e744b9" /><Relationship Type="http://schemas.openxmlformats.org/officeDocument/2006/relationships/notesSlide" Target="/ppt/notesSlides/notesSlide35.xml" Id="R56632d87b0c942a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ce64642b24b97" /><Relationship Type="http://schemas.openxmlformats.org/officeDocument/2006/relationships/notesSlide" Target="/ppt/notesSlides/notesSlide36.xml" Id="R7f519997fd674b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6BA83-06EB-418D-9DA3-DFAA1B5F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5D155-5872-4B48-9E8B-E005A712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Copilot Studio Day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C14ED-3172-485A-8ECA-8143532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BC8CA-6A2A-4FF9-9896-195E8E8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ABF3E-AD90-42CF-8493-49C5E217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6EF65-FAAA-4CC2-BD92-154A71B3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A832B-3573-4FCA-B6E6-E0A4E1D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5000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ผู้ช่วยหน้าเคาน์เตอร์</a:t>
            </a:r>
          </a:p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สนทนาและส่งต่องาน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93251-6560-4F46-9C49-E719053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วันนี้ผู้ช่วยจะตอบจากคู่มือ รับเรื่อง และส่งสรุปจากข้อมูลฝึก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4F01A-76AE-4805-84BF-2099DDFD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4572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A7AE9-6E25-4734-A0B0-AF65F4D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Copilot Studio = front-counter support assistant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2b4836a6948d1"/>
          <a:srcRect xmlns:a="http://schemas.openxmlformats.org/drawingml/2006/main" l="16915" t="0" r="1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352550"/>
            <a:ext cx="5353050" cy="4552950"/>
          </a:xfrm>
          <a:prstGeom xmlns:a="http://schemas.openxmlformats.org/drawingml/2006/main" prst="roundRect">
            <a:avLst>
              <a:gd name="adj" fmla="val 3347"/>
            </a:avLst>
          </a:prstGeom>
        </p:spPr>
      </p:pic>
    </p:spTree>
    <p:extLst>
      <p:ext uri="{BB962C8B-B14F-4D97-AF65-F5344CB8AC3E}">
        <p14:creationId xmlns:p14="http://schemas.microsoft.com/office/powerpoint/2010/main" val="18321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F508F-F031-4F19-862F-7EAA654C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278A6-B645-415D-8C53-C413E62E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 question becomes a support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BA523-85A9-4DCD-A54A-DD37B611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E86BD-FB28-45A1-A16D-F5D83363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47928-7BEA-4993-A7C5-96E26DF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C1C9B-B6D4-4F00-9AB1-90CFE70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“ต้องเตรียมอะไร” ควรตอบจาก Knowledge แต่ “ช่วยแจ้งปัญหา” ควรเริ่ม Topic รับข้อมูล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12A0B-9C57-4827-A8B2-4F8BEE59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8F3F1-A776-493A-BFD9-38DD9F1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48744-5AAC-4CF4-A954-3FA87FEF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Two chat messages leading to different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98E7C-F86E-471A-991D-215C1B77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2DA1E-D8A3-45DF-A15C-5A7B366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1C363-640F-4AE0-9AEC-3EF637DC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CDBC9-B757-4322-A2F2-BE0F551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CBF77-8B14-4E31-8804-40D0B44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90B1F-6063-424A-89BE-BF1F2DC0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B2C47-CE84-4EFA-A9B4-ADEF349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ให้ผู้เรียนบอกว่าเมื่อใดควรตอบและเมื่อใดต้องถามข้อมูลเพิ่ม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120889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61982-E49E-4278-8CE1-68CECE7A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76EE5-3DCC-44F5-ACF5-A2890D74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Knowledge, Topics and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85213-1381-40B5-8406-258E6A26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13E12-4FF2-4F82-B7CD-29859CFE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56AB9-9F45-4BC5-A61F-2961517E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DAD39-8873-4E5A-B91D-B6F5B49C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Knowledge คือคู่มือ, Topic คือขั้นตอนสนทนา, Tool คือ action ที่เรียกใช้งาน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B1DDD-A4E9-4BAD-BC8A-52E57239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AA789-1BDF-4507-8830-E025A89A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1D141-1A1C-4E63-AF43-BB3C340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คู่มือหลังเคาน์เตอร์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DF74B-7114-44B1-80DE-A8A130B8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D714D-7BC2-46F0-974F-1B02FE4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BE216-915F-469D-8A8F-76DA270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DE0A7-E1FC-46AF-9ADA-8C78E6F3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Knowledge; ลำดับคำถาม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E706C-506A-48AF-A6AE-CA57E6E8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B4B6A-3E89-475B-9CBB-188CCDD8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384AF-E131-4871-8863-A3D12D3E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D0F6A-3F23-4B37-A325-566D8477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Topic; งานที่ส่งต่อหลังยืนยัน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C6C37-A805-406B-8FF0-FA56D466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1837528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A211A-C0E5-4FD0-8921-CC73857F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D2D1D-332D-467D-BAE2-C0C1F260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Six visible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5BF75-62E6-46A3-95DD-16D4517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305B1-FA09-4886-ABC2-A72FF6C4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545B6-B03F-4EA1-A391-DBD2831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E7C80-619E-44E5-A992-3730836A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ทุก Exercise จบด้วยผลที่ตรวจได้ ตั้งแต่ agent identity จนถึง published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4AC8E-A9D4-4812-BB57-095C6DDF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DF4E8-B08B-4A6B-955B-4B5F1876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74100-1680-43FB-BBC3-BE677A3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Six milestones with one checkpoint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369A5-5228-446F-A02C-44E5895C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DA85F-E94B-47A3-93B0-B4F482EA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684AA-2C3E-4B44-9473-663B7854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4E6CF-D693-4435-8D6F-5647E5E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C6E5A-F2B1-4072-A53B-6E97D0DA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1FA71-F598-44DE-8BEA-C731D6A7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412A8-2515-4E8B-953D-80DB61AE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แสดงภาพอีเมลสำเร็จเป็นปลายทางก่อนเริ่ม build</a:t>
            </a:r>
          </a:p>
        </p:txBody>
      </p:sp>
    </p:spTree>
    <p:extLst>
      <p:ext uri="{BB962C8B-B14F-4D97-AF65-F5344CB8AC3E}">
        <p14:creationId xmlns:p14="http://schemas.microsoft.com/office/powerpoint/2010/main" val="10322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73426-4E9B-4FD9-88F0-B4D13DF7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88657-A3A1-445B-838C-B3D1384D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The organizer-prepared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CEF21-0CB8-455B-BF24-2E6C4FDA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8619F-71CE-46BE-98A8-D4D87701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A7FF9-3FF7-4825-A140-6D42DBF3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D41F5-96EB-4DBD-9117-6BD696FE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ทุกคนเลือก environment ที่ผู้จัดอบรมเตรียม ไม่สร้างใหม่หรือสลับ authoring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69239-E958-4FC0-9C38-BCC047B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0FB96-7A35-4656-B966-5E486C69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CCCD2-9E54-4C8E-A322-46056863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Verified environment selector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53B57-F231-46AC-BCE2-0CFB6348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A6422-D6C6-4C01-BA92-EDF08B64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9E3B9-BA78-400C-82DF-3FB242FE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28E98-A06E-475E-A966-B4820DB9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65995-E572-4816-99B2-B41D602A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E1CB0-8B68-45CD-B91D-752EE48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0BF2F-326E-41D7-88EB-7061366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เปรียบกับเข้าอบรมให้ถูกห้องก่อนเปิดคู่มือ</a:t>
            </a:r>
          </a:p>
        </p:txBody>
      </p:sp>
    </p:spTree>
    <p:extLst>
      <p:ext uri="{BB962C8B-B14F-4D97-AF65-F5344CB8AC3E}">
        <p14:creationId xmlns:p14="http://schemas.microsoft.com/office/powerpoint/2010/main" val="812045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CB364-FE8C-49D1-8E1D-20D40294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33BFA-4F90-4C68-BEC1-C1401BC0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Prepared learner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A3D22-F58A-4FB3-A3E3-85B0B485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27528-3551-446F-BAB9-734A2C6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6B3D3-2A40-44BD-B166-C6180EBA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17742-D63D-460C-B9BA-7D0254A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บัญชี, environment, Knowledge upload, Agent Flow และ channel ถูกกำหนดไว้ก่อนคลาส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F4196-BE8C-4F88-91D5-7D5EF64D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81958-210E-4D51-8AB8-0A5263AF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7E1E8-64FB-4568-8C9F-47BB6707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One readiness card with five checked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A7358-6D90-4BC1-B6BD-37C441F6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6113B-49F6-4A85-A9E1-E0B1615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40E7E-3E10-49AB-B60B-CD861EF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39B53-67B5-4FF6-A575-563E52C9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9794E-982A-4847-94A2-35E71CE3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BD871-105C-4FE3-A496-6280E844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88A78-0676-4BF7-AF05-611DF607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หากหน้า UI หรือ capability ไม่ตรง ให้หยุดแจ้งวิทยากร ไม่แก้ setup เองกลางชั้นเรียน</a:t>
            </a:r>
          </a:p>
        </p:txBody>
      </p:sp>
    </p:spTree>
    <p:extLst>
      <p:ext uri="{BB962C8B-B14F-4D97-AF65-F5344CB8AC3E}">
        <p14:creationId xmlns:p14="http://schemas.microsoft.com/office/powerpoint/2010/main" val="1553502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03731-42B1-43B8-B030-D812914E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E0379-E53A-44EF-8B67-30B476D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Agent identity and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598CC-D0BB-4925-A69D-83AF072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9472B-10E9-49A2-9521-FB4FB2F8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E6E6B-E7F9-4739-90D0-F69E2161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BF0AC-398D-416A-9F6F-C475E879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ชื่อและ description บอกงานเดียวที่ผู้ช่วยรับผิดชอบ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762B8-6099-4E0B-9BAE-989F9BE8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2BBE0-A53A-487B-898C-2D18A192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E6908-C2A6-4C5B-AC81-EDD6190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Name and description from Exercise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C7B15-5AAE-4766-98CD-A5EB2828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35F3A-B272-439D-85A6-E9438ABB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9AA24-3C15-47FB-8659-F3CC5F61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FE07C-78DC-4F2F-9F2E-7BD4A4A6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1474C-0202-4214-9689-6F6A6D8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E1054-FAF8-415D-8D7A-5D20BC7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DA08D-0274-4F65-8B5C-54B4CFA1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ให้ทุกคนเติมชื่อเล่นท้าย agent แล้วสร้างด้วยตัวเอง</a:t>
            </a:r>
          </a:p>
        </p:txBody>
      </p:sp>
    </p:spTree>
    <p:extLst>
      <p:ext uri="{BB962C8B-B14F-4D97-AF65-F5344CB8AC3E}">
        <p14:creationId xmlns:p14="http://schemas.microsoft.com/office/powerpoint/2010/main" val="1841596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482D9-BEB7-4CD9-BDC1-F8CBFC7B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18C5E-961D-429B-BFF1-D32045A6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Instructions and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BC22F-3F9E-4EB8-BF78-15243045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45908-A9B6-4215-BFC3-72B8FDE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628EA-EA57-4B95-BF2B-751EB14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B4E56-7AE2-4C1A-96D9-2C5B4358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ระบุแหล่งข้อมูล ขอบเขต และสิ่งที่ไม่มีข้อมูล ไม่แต่ง SLA หรือ stock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74BB0-3E3D-4D54-8930-191F83BE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BD311-6805-4812-8637-E5EE0395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15320-D590-4F9B-9972-A7BAABA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ขอบเขตหน้าที่ของพนักงานเคาน์เตอร์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3A1E8-A39A-4877-B76D-95C106BC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26BB6-3A8F-4F16-B84B-817662A5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3482-C3F8-44C5-86AB-7BDB6A9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B86E1-D94B-44D7-8B3F-5D595724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Instructions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DF6E8-786C-4337-BDD7-1B8966A0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DDDA2-1E4D-49AD-A712-4B847BBF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CAC4D-5766-42C0-B1CF-CD63E42A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26DEA-AF14-431A-A202-C30312C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agent บอกได้ว่าช่วยอะไรและหยุดเมื่อข้อมูลไม่พอ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AF557-1CE8-4C9E-86A9-9AE6DD22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1294980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C09BB-BBCD-4C81-A5E6-4D7FDB2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55BB4-4D4C-48E8-9A17-96FA407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Generative answers from a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EDE1-FA20-4CFB-A611-79D614E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DA52-800F-418B-9651-E5B32DCB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4E349-7231-4350-A4C7-8ABBB144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397DA-5B8F-4AA7-88DB-F649B2F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ผู้ช่วยตอบจากไฟล์ที่อัปโหลด ไม่ใช่การอ่านข้อมูลปฏิบัติการแบบ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7439B-5877-4CA5-B9E2-584007D1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เปิดคู่มือที่อนุมัติก่อนตอบ → Knowledge grounding → ตรวจคำตอบกับข้อความในไฟล์ฝึก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D0094-7074-43A5-B0EA-DEFE015B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19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95EED-3405-4AD0-8AB9-B859CC28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ตัวเลข 10/8 เป็นข้อมูลฝึก ไม่ใช่ stock จริง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711d78c354ef1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381125"/>
            <a:ext cx="5124450" cy="4333875"/>
          </a:xfrm>
          <a:prstGeom xmlns:a="http://schemas.openxmlformats.org/drawingml/2006/main" prst="roundRect">
            <a:avLst>
              <a:gd name="adj" fmla="val 3516"/>
            </a:avLst>
          </a:prstGeom>
        </p:spPr>
      </p:pic>
    </p:spTree>
    <p:extLst>
      <p:ext uri="{BB962C8B-B14F-4D97-AF65-F5344CB8AC3E}">
        <p14:creationId xmlns:p14="http://schemas.microsoft.com/office/powerpoint/2010/main" val="293600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C8A08-9F11-4A78-9749-D7AD3EF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07412-0525-44B2-B41B-2741E36B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Knowledge ingestion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75532-AC99-4CB8-A08F-61708528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EFE15-7663-427F-A6A6-439AF8F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181B5-6B41-488F-86A0-207AAB4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7D6E3-C00B-4648-89B8-4533D92B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เพิ่มไฟล์ ตั้ง description และรอ Ready ก่อนวัดคำตอบ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20481-D379-4FD8-A5D2-07C4BF4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628DB-245E-442A-897F-41B950F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353DA-1179-4168-90DC-64A7629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นำคู่มือเข้าชั้นเอกสารและรอจัดเก็บเสร็จ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28F1F-0C41-4BAB-BE80-9CA6D66D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57993-0543-4ED4-BD2E-73FD008B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8B21A-BBA8-411C-B3CB-748DB6A3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8A2DB-075C-4A0D-8BCE-8E8B183C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upload Knowledge and wait for 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418FF-86D8-43E8-9A69-7E057257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CB3BA-82D2-4102-9518-A464BD61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E9ACF-110B-40C4-BD4F-24B7B79B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4ED38-AD62-4DD1-9AD4-6848A2DA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จึงเริ่ม supported/unsupported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AC634-EF33-40E2-8DB0-E7B9B999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663685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93E64-33B3-4BB3-8B05-2B634E87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AB198-C83C-408F-9030-5B09F82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Evidence in an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11A2D-FE21-4EE6-9F4D-7C83479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4C444-8DAF-4F7B-B034-3D2FCC4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39B9-AC76-4104-9228-B67234AC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07CFC-286C-428A-A848-01D814A5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เปิดแหล่งอ้างอิงเมื่อมีและเทียบคำตอบกับข้อความในคู่มือ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26AAB-8AC0-404F-8925-41B3333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ABAF4-37C3-454C-BB68-36C28BFA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93F62-F0F6-4AD4-A5DC-B289BAD3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7D78B-14F9-41FF-A6AF-3701E1CD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D5C3D-2C3C-4398-A40A-6F0119CE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2068D-8D0E-4DE4-A8D6-1875D06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D861A-3800-4B3E-9CCC-AE66994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answer and supporting excerpt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FA357-0DC8-4EBF-B798-201A4A09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96799-DA9B-4B34-92C2-105E737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CC5FA-D268-4EE5-9170-E3D7C10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K1 แล้วให้ผู้เรียนชี้ข้อความที่สนับสนุนคำตอบ</a:t>
            </a:r>
          </a:p>
        </p:txBody>
      </p:sp>
    </p:spTree>
    <p:extLst>
      <p:ext uri="{BB962C8B-B14F-4D97-AF65-F5344CB8AC3E}">
        <p14:creationId xmlns:p14="http://schemas.microsoft.com/office/powerpoint/2010/main" val="889088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FABFD-5D84-4605-9611-E3EF49F2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+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DFACA-7733-41D2-BA44-93C617CE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Missing information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6B14B-ED02-4FC1-A104-ECBCAA1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9CB12-E384-4A06-B85D-7386906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3499F-8E95-4825-BFC9-048F697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98DAE-43F8-4688-B5A0-A2DF1B6F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เมื่อคู่มือไม่มีข้อมูล ผู้ช่วยควรบอกว่าไม่พบ ไม่เติมคำตอบให้ดูครบ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5CA3A-B1BE-452A-8771-DE1DDBB8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4A320-FBA4-43B3-8421-0AF7D0E5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B473F-1D5E-4B9C-AC61-90A5A2D3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Supported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2C6D-EF35-4358-9AFE-FE9EAE39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A2C3A-4648-451D-BF36-49F21B09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AD2DE-29C5-4C7B-8540-0BA263AE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1AD90-0DC4-45FD-A4B6-6F41093F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unsupported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F5E55-ECC3-4F62-B2B5-7F9C9453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EC49C-8323-4E57-9578-06F15458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5F527-41DF-41EA-948A-16F633E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K2/K3 ตรวจ boundary ก่อนพัก</a:t>
            </a:r>
          </a:p>
        </p:txBody>
      </p:sp>
    </p:spTree>
    <p:extLst>
      <p:ext uri="{BB962C8B-B14F-4D97-AF65-F5344CB8AC3E}">
        <p14:creationId xmlns:p14="http://schemas.microsoft.com/office/powerpoint/2010/main" val="939118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C7AAE-8E75-4008-93AF-BAA47B48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CF60A-F49A-42E4-B065-C0973007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Topic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449F0-7009-4C73-9EAA-CD0AF1C7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0F450-FF22-40C2-8959-3212C1AB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2A5A1-714C-400E-946E-05EE155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B1743-CDE0-4ADA-93B4-A513138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Classic ใช้ trigger phrases; core นี้ใช้ The agent chooses กับ description ที่ชัด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56A05-F1EF-4DE8-9CAB-6F7DAB53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7354A-05FA-452E-9744-5561D05F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59DFA-68BD-47E6-8143-1A1F355D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Compact comparison of trigger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1CE81-D39D-4481-A692-D9D27B8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E7D18-6C63-4358-847F-BBDB5D1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F98D5-A88D-47E6-8137-B1DDE26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4091E-330A-48B4-BAE3-07C6A20D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4B4AE-4E16-49C8-8F59-689ED794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FE55B-9415-456D-9AD9-DDAC8F53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D31C8-EC60-4406-958E-84CC035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อธิบายความต่างโดยไม่สลับ agent ไปมาระหว่าง modes</a:t>
            </a:r>
          </a:p>
        </p:txBody>
      </p:sp>
    </p:spTree>
    <p:extLst>
      <p:ext uri="{BB962C8B-B14F-4D97-AF65-F5344CB8AC3E}">
        <p14:creationId xmlns:p14="http://schemas.microsoft.com/office/powerpoint/2010/main" val="19905186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0D3F7-B4D8-48A7-AB5F-57BE5EED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62F2E-C545-4A1C-A7E2-C07732E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Store Support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20998-95FB-4DF8-AFF7-5F1E4A02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F2A2A-A338-4651-BE11-F92AC3C1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98DB4-B38A-43AC-A6F7-3FB8F256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245DD-F4DD-4EF0-A0C3-179273A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Topic เก็บข้อมูลเพื่อแจ้งเรื่อง ส่วนคำถามทั่วไปตอบผ่าน 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06AA-8E14-4811-B31C-F0882CC0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005E0-C79B-4058-BEB0-2F377192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75CF6-858C-444D-91ED-BD7CC70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แบบคำถามประจำเคาน์เตอร์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CD306-5E6D-4468-86F1-5602A990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9378C-321D-4A7C-B66F-0FD2ADB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FF018-103C-4624-AA7A-591E81B7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1E242-5484-412A-B6ED-4EFA0D43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Topic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9AD0B-9072-462D-81F0-DB4D63BC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893E0-D6F2-4F26-8708-89A0D85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672AB-1374-4F1D-915B-0BF03C8B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3A496-BFEC-48EC-9AA2-72BCEB82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เริ่มจาก Trigger phrases แล้วถามข้อมูลตามลำดับที่ตรวจได้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39677-26EF-476F-B76A-D502D6B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4268973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E1777-CA07-4AC1-B6D6-23612BAF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3900A-FF66-4FBC-9281-4963C6F7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Questions and captured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B23E9-68FE-4552-92C0-B79A8CDB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67231-E562-4E41-8884-B26C307D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E4F56-3890-4838-BC78-A2E8E82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56FD7-EF30-453F-AD29-F24ADBB9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StoreCode, category และ IssueDescription คือข้อมูลของคำขอครั้งนี้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E5E8B-53B3-46D0-9A78-A65BABC3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7B2A3-4AAF-4A82-92E7-BF0B620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46EE2-D427-4B58-9251-A7BF4DAB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Question text mapped to variable names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1988D-F9CD-47F8-B6C4-5EE550D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8387F-9D91-48F7-A729-DDA4698D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53A50-F3BC-461D-81B4-CF6184D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7FBA8-DE88-42A6-B7C7-16075CE3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7F469-B80A-47D9-B816-8572BF7A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3922C-A466-4941-A1B2-7A54869C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FD7B0-E256-4499-ADDE-616A6F3F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ยังไม่มีระบบตรวจรหัสสาขาแบบ live</a:t>
            </a:r>
          </a:p>
        </p:txBody>
      </p:sp>
    </p:spTree>
    <p:extLst>
      <p:ext uri="{BB962C8B-B14F-4D97-AF65-F5344CB8AC3E}">
        <p14:creationId xmlns:p14="http://schemas.microsoft.com/office/powerpoint/2010/main" val="11135988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16A3D-8DC1-432E-9E63-8E7B852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30D2F-A325-4C8F-BB5D-A2EEF72D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Branching by issue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B62A0-1521-4A4F-87D5-D131C2D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D75D-AE39-43E1-8CA8-73E9CC49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15C68-4A03-4A9A-AC65-90726BD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03853-ECDD-43CB-8484-69B2CF21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Equipment และ Delivery ให้คำแนะนำต่างกัน แล้วกลับมารวมที่รายละเอียดคำขอ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518A8-5884-45E6-97DC-9B3A0FB7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55E4F-BCA6-489F-AFC3-CCD7CA85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13714-1F36-477C-9C9E-2EC9362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Two-branch Topic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74FFA-9D94-4658-90FE-FF63BDE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D7198-E40E-4CE1-8875-64A6620B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C36B4-D1AC-42F7-A4C9-1E0B2E1B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C6417-052B-4A76-810F-B07E240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C5915-1E71-4808-A9BD-6F3C705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96C1F-53DD-477E-9CF5-E66C46F0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07779-CA1B-499C-9030-4B398A72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ทดสอบทั้งสองหมวดเพื่อพิสูจน์ routing</a:t>
            </a:r>
          </a:p>
        </p:txBody>
      </p:sp>
    </p:spTree>
    <p:extLst>
      <p:ext uri="{BB962C8B-B14F-4D97-AF65-F5344CB8AC3E}">
        <p14:creationId xmlns:p14="http://schemas.microsoft.com/office/powerpoint/2010/main" val="1128626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6B325-2EAD-4B81-A141-97C55090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2CCB3-27A7-4859-8620-825C1AF6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Fallback and clarification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DC0FA-0141-451A-BD4F-3A4EF0D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55117-F2EF-4040-BAE2-D7B9F7EE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432B7-9720-4141-97E5-FF0662CF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1A411-16BD-4F8A-A113-262E660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System Fallback และ generative clarification อาจเกิดคนละเส้นทาง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092E9-5A12-4954-BE67-A9A557BC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27DCC-D41B-41FB-B850-B3EED98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F7C42-F17A-45AB-B00E-0229B5EF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Ambiguous message and clarification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73A3C-06EC-4EDC-AD43-DAAE14B8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63E3A-9B10-4840-8EAA-1B805E43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3ABCC-660A-406A-A7CD-02AE4E1F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49FB2-4D96-4F4A-9EC4-4CAC82F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13991-2297-4A37-BCE7-F23D3446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7A421-8F91-4802-8276-49C7AF25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38BB3-42F5-4E68-A18F-1AC7706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แก้เฉพาะข้อความช่วยผู้ใช้ ไม่แต่ง escalation ที่ยังไม่มี</a:t>
            </a:r>
          </a:p>
        </p:txBody>
      </p:sp>
    </p:spTree>
    <p:extLst>
      <p:ext uri="{BB962C8B-B14F-4D97-AF65-F5344CB8AC3E}">
        <p14:creationId xmlns:p14="http://schemas.microsoft.com/office/powerpoint/2010/main" val="11923437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98413-5D80-4108-A494-0A98DEBC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ENTITY + CONFIRM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37FDE-6B4F-4F21-BFA8-104B33D5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Entity and Variable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A5147-2299-4714-A2FC-8F4A4BCD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E903B-4B2B-4F6E-A7F6-562A76B2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E7A96-42E2-4B6F-9B20-726ECADA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A9921-5DFB-4947-A02E-F3A2380D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Entity บอกชนิด/หมวด ส่วน Variable เก็บค่าที่ได้ในรอบนี้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9DC94-0A47-4AC7-A317-F03AF22F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8E38B-0D90-49CB-9F0E-FFF54DC9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37B75-AF27-4E4F-B086-49861F9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พนักงานเข้าใจคำเรียกหลายแบบและจดคำมาตรฐาน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0CEE2-403F-47FC-BC46-864C265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E2F72-9AFB-4742-ABCE-BA3A1B04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2A4ED-E9C7-400F-BFC3-3AB2B4D3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B281E-D63E-485A-A88F-A9F5A632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Entity and Variable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79198-9F50-444D-B836-8B11D3C2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EA37A-4A80-41E2-88F7-A6860D6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83903-E5DC-4CC5-932E-BC1043D8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ACA0B-3312-4155-9CAA-41D4E1DF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ทดสอบ synonym แล้วตรวจค่าที่เก็บ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8FFB4-366F-4350-86B0-370D231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20170513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0027F-C721-49AD-A9D2-CB35B6C5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ENTITY + CONFIRM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5621E-B409-4E39-9D5D-D5516BF1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Built-in Boolean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597E5-AED7-429E-8834-105555D1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2AA0F-E997-4260-90F8-A8849A1E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E3FB1-5661-4FA7-938D-89CA8C18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9E317-28AD-4996-8906-41CBB95A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Boolean สำหรับผล Yes/No ที่ต้องควบคุมการส่ง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5CB0D-5AC7-43EE-877B-BA551B8E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D8B65-F0FF-432F-8AC0-30F243BD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DC455-2454-4C91-B11C-0CED97C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Boolean true/false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CD81E-B8FA-445E-8A5B-FFC55C52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D54E5-F116-4E20-B69B-3E0D156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BFF77-3029-425A-95E8-0D084E04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813E8-3EF6-49EE-90D7-6DDFA31A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text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1E083-CB92-4EA7-AB97-8DD86B7E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C9AFC-68D1-4B27-8274-48922A81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89DE1-48F6-436E-BDD5-37430131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ข้อความ true ไม่ใช่ Boolean true</a:t>
            </a:r>
          </a:p>
        </p:txBody>
      </p:sp>
    </p:spTree>
    <p:extLst>
      <p:ext uri="{BB962C8B-B14F-4D97-AF65-F5344CB8AC3E}">
        <p14:creationId xmlns:p14="http://schemas.microsoft.com/office/powerpoint/2010/main" val="13419066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36EC4-7F7B-48A7-AAB0-C672BD5A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ENTITY + CONFIRM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78CC3-FCEB-4583-B3D1-3F8EE4D6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Custom category and synonyms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913C7-0D57-49A7-B1C6-F4453F45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93E25-CF1E-4EBB-8B75-6A7490A2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E3458-C0FA-403F-93DB-4D9FB3F6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0BE1E-1E24-4CD6-9244-20EC3CE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Closed list เล็ก ๆ รองรับ Equipment, Delivery และคำพ้องที่ผู้เรียนใช้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84C41-F032-4241-95F6-0BBF65ED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F78B0-017B-4149-8C9D-954FC8A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3E6CD-2532-4940-9D74-488F8BD5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Canonical values with Thai synonyms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704D7-626B-4092-8B0C-C533967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6C1CF-39F2-4FE4-AAC8-7FBD738B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1421E-6B42-4E15-A531-C3C2F9A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E775E-2F42-4008-A2B0-C25CD5F7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82AF0-83C6-4865-935D-0A87B41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A0DB9-8654-45C2-B081-AECC8D7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BEA61-3E64-4F89-A07D-7F58FDA9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ไม่เพิ่มหมวดที่ Topic ยังไม่มี branch รองรับ</a:t>
            </a:r>
          </a:p>
        </p:txBody>
      </p:sp>
    </p:spTree>
    <p:extLst>
      <p:ext uri="{BB962C8B-B14F-4D97-AF65-F5344CB8AC3E}">
        <p14:creationId xmlns:p14="http://schemas.microsoft.com/office/powerpoint/2010/main" val="11699071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CAF95-CFD0-4A43-9812-62ADBE9B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ENTITY + CONFIRM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AFC3E-67A4-4351-ABE0-316EE9B0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Variable scope and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4DCD-E9DB-48F6-B7D0-3722BE7A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5C278-8517-495E-967E-C26BD7BD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EFEB-D0E6-4C80-A921-974F5859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A2E52-8FE4-429B-9CC7-F4582FD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Topic variables และแปลง entity เป็น CategoryLabel String ก่อนส่งต่อ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BE7DD-62A7-4F5D-B045-04368797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DEA64-4C27-4F64-A694-1AB783E5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22FDC-D23C-406A-ADCC-82F07FCD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IssueCategory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99A75-47CE-40BB-9047-B8711A77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7DC32-1734-46F3-9D9D-FD30A630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472D0-D139-4AC8-B071-73BD0C94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C2DA7-D7C6-4234-B677-E29D4B31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CategoryLabel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C848C-C3AC-417A-B589-B8034B3F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EE142-5E19-4F88-A033-2AA83DEB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076D6-EF53-45FC-8B15-37EB74D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ค่าจากคำขอรอบก่อนต้องไม่รั่วเข้าสู่รอบใหม่</a:t>
            </a:r>
          </a:p>
        </p:txBody>
      </p:sp>
    </p:spTree>
    <p:extLst>
      <p:ext uri="{BB962C8B-B14F-4D97-AF65-F5344CB8AC3E}">
        <p14:creationId xmlns:p14="http://schemas.microsoft.com/office/powerpoint/2010/main" val="14077956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1F835-5BE6-473E-B499-9B1D6B44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ENTITY + CONFIRM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D405D-FD40-4D17-95C1-94ADCC7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Build RequestSummary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6027A-693E-435D-8028-DED0D07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9FE78-D0AF-43AA-868D-B1417EC2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8CABE-6E66-4633-8A94-5AD6805C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0B59F-DB49-4487-927C-2EE5A1BC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Summary ประกอบจากค่าที่ผู้ใช้ให้ ไม่ใช่ข้อความที่ AI เดา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BB990-7DD9-446A-A07C-2E02FED7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7BAF2-24F8-45B9-A5CB-8150B2CA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7BBBD-947E-4545-9397-9CBB74D9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Three fields composing one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85C9C-3ECB-4F99-80F5-B7AFE2A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705DD-CBB2-4D8E-8843-551ACF22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0B13E-B623-48BE-ACD9-CB347FDA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7C71E-92C2-47C6-984B-054D5565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31D7E-7AFC-42ED-8645-C98CC982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861D7-A456-4D91-88C3-003DE33B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60757-70C4-4AFF-ADBE-2EAFBAB8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อ่านสูตรทีละส่วนและชี้การขึ้นบรรทัดใหม่</a:t>
            </a:r>
          </a:p>
        </p:txBody>
      </p:sp>
    </p:spTree>
    <p:extLst>
      <p:ext uri="{BB962C8B-B14F-4D97-AF65-F5344CB8AC3E}">
        <p14:creationId xmlns:p14="http://schemas.microsoft.com/office/powerpoint/2010/main" val="9138483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40596-488E-44AF-BB58-D1439E30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ENTITY + CONFIRM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4B94C-AC3F-4BDA-B1E8-7EC64107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Reusable confirmation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54521-59E7-4179-AF48-854A37C1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2428E-3F83-439C-B855-A62B8552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469AF-F8DB-4C33-8AE6-71C04C5E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F97E3-A8C3-4918-85CF-A78C6BE1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Topic ย่อยรับ SummaryText และคืน SendConfirmed แบบ Boolean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EC6E7-F2A9-477C-A7F5-D8DD373E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อ่านใบรับเรื่องกลับให้ผู้ขอยืนยัน → reusable confirmation Topic → Yes เดินหน้าส่งงาน, No จบโดยไม่ส่ง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3ED38-D183-4442-A8C2-B6315BBE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19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25E7F-15D2-491A-AA84-C1A446A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เหมือนส่งใบงานให้ผู้ตรวจและรับผลกลับ ผู้เรียกต้อง map ทั้งสองด้าน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2ae9d66ab4655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381125"/>
            <a:ext cx="5124450" cy="4333875"/>
          </a:xfrm>
          <a:prstGeom xmlns:a="http://schemas.openxmlformats.org/drawingml/2006/main" prst="roundRect">
            <a:avLst>
              <a:gd name="adj" fmla="val 3516"/>
            </a:avLst>
          </a:prstGeom>
        </p:spPr>
      </p:pic>
    </p:spTree>
    <p:extLst>
      <p:ext uri="{BB962C8B-B14F-4D97-AF65-F5344CB8AC3E}">
        <p14:creationId xmlns:p14="http://schemas.microsoft.com/office/powerpoint/2010/main" val="18049374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F7A79-6A2C-47EC-B630-36D8024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ENTITY + CONFIRM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CD335-E498-4E45-A3B1-030D162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Yes continues, No stops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0A474-8D29-4E85-9FC9-E1017D4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7B727-F3AC-4F0B-9809-B234B210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B1128-FACC-4426-A159-3EC66652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CC077-4F4F-4D3F-B21F-24EB0ABC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UserConfirmed=true ไปต่อ; false จบโดยไม่ส่ง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9646B-5A90-4D65-8E77-F857B81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F6AF4-94BF-49F7-AE78-CEADC8B8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6207C-1ED1-4E3D-AA35-64B8FEF1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Decision branch without a tool call on 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3DFA2-28F4-493E-9139-64356A10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2F4EB-8FCF-4456-BDB9-8D9A8B8C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1D03D-F28B-461C-875A-DD01D717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C4CFA-BA31-417A-8B55-BD47D30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E6574-38B1-41C3-802C-EF085DB7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F4E9D-3558-4E8E-B1DF-E1FB2975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5F6FB-B72C-403F-A423-FA5E64FF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ทดสอบ Yes/No ก่อนพักกลางวัน ตอนนี้ยังไม่มีอีเมลจริง</a:t>
            </a:r>
          </a:p>
        </p:txBody>
      </p:sp>
    </p:spTree>
    <p:extLst>
      <p:ext uri="{BB962C8B-B14F-4D97-AF65-F5344CB8AC3E}">
        <p14:creationId xmlns:p14="http://schemas.microsoft.com/office/powerpoint/2010/main" val="2836222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22679-4494-417F-93A9-03415E91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E53F5-57F7-4B6B-BD12-AEDE4D58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Topic trigger and flow trigger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76F6F-49EC-4156-A60A-4BF2D62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C7F18-823D-4F25-911E-6FF886A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F27AB-78EE-45CF-9172-22523360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52C4B-30E4-4048-AE66-EF0B7CA2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Topic จัดการบทสนทนา; When an agent calls the flow เริ่ม action เมื่อ Topic เรียก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0E736-67C3-4419-A0F3-2528EE26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A15EA-8352-4CFE-A1B4-E959B5F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D7D12-AFA8-4770-A7C2-95043E01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ผู้ช่วยหน้าเคาน์เตอร์เริ่มรับเรื่อง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5D29E-707B-4C24-B6F1-6BF63E36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C39E5-4ABE-4C1E-9108-CCE6E15E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AE807-4BF8-49EC-987D-DFD9EB0A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51ADD-F19B-4801-A30C-2FC4AADB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Topic trigger; การส่งใบที่ยืนยันแล้วให้หลังร้าน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99466-0A25-4C0E-BE89-77CC134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0E1AC-7AC7-4519-A73C-E335AA2B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D9DBE-5669-454F-8294-03F3E72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F092D-B62A-4BE9-8498-797F9E20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Agent Flow trigger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91EEB-D83C-4872-B811-8545494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8240539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4AEE1-C2DA-481E-9C58-98BCC627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36C02-A828-40B6-A4CA-B899371B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Flow inputs and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92AD6-1029-4943-9574-F4F2DE7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4CC57-ADAB-45F7-9485-FEBCE5B9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3ACAA-A90D-40BE-9413-E2A1BBB3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34DD4-8B2F-4EC8-870F-43816A46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ส่ง StoreCode และ RequestSummary เข้า แล้วรับ ResponseMessage กลับ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5A451-9024-48EA-BAAE-20F613F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E47D-D45E-4875-AEA4-19DF8F2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3E3F6-15AE-46BA-8E91-AA0EEF6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Exact two-input/one-output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D28B1-874B-48CE-9027-BE10B7A9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29395-D9F6-4C9E-B389-81673F0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255EE-3821-4B37-A36B-E1E04089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A1C22-A581-47B8-9D9A-1611491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FA202-944F-4CC8-8DF0-F71BB12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EB295-895E-470A-B85F-D8FCD7B5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45258-C1CE-4658-934E-0CD840E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ผู้รับกำหนดไว้ใน flow ไม่เปิดช่องให้ agent เปลี่ยนจากแชต</a:t>
            </a:r>
          </a:p>
        </p:txBody>
      </p:sp>
    </p:spTree>
    <p:extLst>
      <p:ext uri="{BB962C8B-B14F-4D97-AF65-F5344CB8AC3E}">
        <p14:creationId xmlns:p14="http://schemas.microsoft.com/office/powerpoint/2010/main" val="16034278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3FFF6-4690-4DC7-B588-A3364947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5BE0C-F69D-46E2-AB98-75CC0972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Outlook action and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0EB96-B66F-4D5C-9DD8-C9CACB71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13157-7999-4B76-9C1E-7427C71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642E8-4EAE-4D59-B8D5-7ED905AE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8E6A2-0BE6-423E-B630-C6648AB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Send an email (V2) ส่งหนึ่งอีเมลผ่าน mailbox ฝึก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BD323-DDFB-49D9-A5A5-D830757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B03C7-143A-40B0-BC45-B9D2CE1C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1D277-B9F0-4D71-BE85-D8B7F02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821FB-8EAD-4D76-ABA6-593F327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3D9AB-54A0-4574-83A1-E76CB41B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09099-D044-4E67-84D3-87FC9C0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B565C-1692-4238-A273-A9717A4D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Outlook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359CE-7D43-4427-BD0A-858638E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888DA-9B33-4641-81A0-6F400E5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33AA9-C972-44FE-8A31-B345BE50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1AED0-6105-4995-8E41-A0299CEF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Respond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1E70A-8E68-451F-A2B1-F393D321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D8795-BEC7-4F49-81F4-0DCA28D9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858D0-1C83-41F6-86E1-39A2817F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ทดสอบอีเมลก่อนนำ tool กลับไปผูก Topic</a:t>
            </a:r>
          </a:p>
        </p:txBody>
      </p:sp>
    </p:spTree>
    <p:extLst>
      <p:ext uri="{BB962C8B-B14F-4D97-AF65-F5344CB8AC3E}">
        <p14:creationId xmlns:p14="http://schemas.microsoft.com/office/powerpoint/2010/main" val="11046764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ED559-3846-41D3-803B-DAB55A44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58457-071F-4298-9B0D-59B9E474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Controlled tool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006F0-320F-4BBF-AB6B-FF6EB338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D495F-89A8-4042-A121-9635781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7F38B-DCE0-423E-B488-27182041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C1C70-1175-4690-A602-193B5460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ปิด dynamic invocation แล้วเรียก tool เฉพาะ UserConfirmed=true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F1879-EDB5-4836-8728-25F3422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ส่งใบให้ผู้ช่วยหลังร้านหลังผู้ขอยืนยัน → Tool invocation → Yes ส่งอีเมลหนึ่งฉบับ, No ส่งศูนย์ฉบับ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BC7D4-779B-4DCC-85D6-B620153E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19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24E23-8E7B-4C07-AA74-7F52F345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C83C42"/>
                </a:solidFill>
                <a:latin typeface="Tahoma"/>
                <a:ea typeface="Tahoma"/>
                <a:cs typeface="Tahoma"/>
              </a:rPr>
              <a:t>Instructions อย่างเดียวไม่แทนเงื่อนไขใน Topic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ba64a34e24444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381125"/>
            <a:ext cx="5124450" cy="4333875"/>
          </a:xfrm>
          <a:prstGeom xmlns:a="http://schemas.openxmlformats.org/drawingml/2006/main" prst="roundRect">
            <a:avLst>
              <a:gd name="adj" fmla="val 3516"/>
            </a:avLst>
          </a:prstGeom>
        </p:spPr>
      </p:pic>
    </p:spTree>
    <p:extLst>
      <p:ext uri="{BB962C8B-B14F-4D97-AF65-F5344CB8AC3E}">
        <p14:creationId xmlns:p14="http://schemas.microsoft.com/office/powerpoint/2010/main" val="17218713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CB719-9DCD-4802-85FA-C83E5609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39F14-03EA-4135-BA33-8338734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Response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E7841-C98B-4363-8D32-7F32B3A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6ADAB-6464-4F81-9903-859A08C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91CD7-E518-4940-8773-937B56DF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1A1D-75D2-4312-AFE9-BB8A5A42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หลังส่งสำเร็จ Respond คืนข้อความ; ต้องเห็น run และ Inbox ประกอบ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1A5C5-E06B-44FD-8FB3-7DCB4AF7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33989-FADE-471F-A75A-E5B33F1F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EC31A-A6F9-4EFC-9F52-DB6D9414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FB4DB-B701-4753-88E7-3AEC5F4C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0CD8B-7F4F-456C-A047-D78B0337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45D8A-46A9-4130-B5C3-8BA857C2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216AB-B37E-4FC7-A7DB-B8D3541E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flow run and matching email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243A6-8631-4513-85AC-33AF428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74416-BBD6-4D87-B7B8-A27F23FB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8B32F-9C35-4A48-9C68-47E2921C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ถ้า action fail ห้ามบอก success และตรวจการส่งซ้ำก่อน retry</a:t>
            </a:r>
          </a:p>
        </p:txBody>
      </p:sp>
    </p:spTree>
    <p:extLst>
      <p:ext uri="{BB962C8B-B14F-4D97-AF65-F5344CB8AC3E}">
        <p14:creationId xmlns:p14="http://schemas.microsoft.com/office/powerpoint/2010/main" val="15545413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9CF77-6BF2-4BD0-85C3-5B8CFA37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F25BA-714A-4F65-95F4-5BF060F9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Agent performance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1F4DB-3CAD-4329-8D15-C8119B7C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B6490-440A-42CA-94F3-9580B9F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ECA64-BA63-4A0A-AFC2-F200F4C2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42225-FA2E-4B97-8F46-A7F04A16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Test trace ดู route/tool, flow history ดู action, Analytics ดูภาพรวมเมื่อมีข้อมูล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8BA15-6E31-4D3E-B04B-12F27A45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F6AAC-9354-4859-809B-E21AC0D2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0BD95-6CE8-4D13-A09A-0DB69BDF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Evidence-to-question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A47C2-B87A-4237-BEBE-92DD065B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4F95F-367F-47CC-8D91-019B0463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A9D81-DF57-44D7-BFE4-B96FE63E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6458D-7A67-455C-ACD2-34EF7EC9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A3E48-7A14-4DE3-B2B3-C59518C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99E05-4042-4D79-8548-BA4684EE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15088-2C4B-4A00-8499-6A8A9B12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prepared analytics เมื่อข้อมูลสดยังไม่ขึ้น และระบุว่าเป็น demo data</a:t>
            </a:r>
          </a:p>
        </p:txBody>
      </p:sp>
    </p:spTree>
    <p:extLst>
      <p:ext uri="{BB962C8B-B14F-4D97-AF65-F5344CB8AC3E}">
        <p14:creationId xmlns:p14="http://schemas.microsoft.com/office/powerpoint/2010/main" val="16785489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8E84D-6ED4-41DB-A8DE-87111A13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AGENT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BCDA7-AFFC-4E14-BEB6-06E65F3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 completed support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A6CCC-BFD3-4928-8BF9-D82E2DB7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129CF-AD77-4962-9615-3AD30FC8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DDE05-6FA1-4F81-BA8C-7A30A6F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9907F-91C5-45CA-B1C0-6F0C4BC4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ถามคู่มือ แจ้งปัญหา ตรวจ summary และส่ง โดยใช้ข้อมูลเดียวตลอดเรื่อง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4A557-5550-44A5-96D7-DC271B7E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FABC4-4C11-42E8-9A2A-67C4546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D0250-2842-4058-9A9D-00AF6F04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Full journey from Knowledge answer to Inbox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9D4E8-7532-4B1C-84AE-69C8DA9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D1E18-3FEA-45AB-8ED7-279A6F89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9AF08-2A05-49DB-845D-9C040AEA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53BE3-E96D-47B0-BB3E-8123C4E8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AAC0B-7261-4572-8454-434D53E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33348-4855-46E9-BF56-F0D550CD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EA1D8-D07A-42E6-AD23-961B44E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F1/F2 ตรวจ Yes และ No; No ต้องไม่มีอีเมล</a:t>
            </a:r>
          </a:p>
        </p:txBody>
      </p:sp>
    </p:spTree>
    <p:extLst>
      <p:ext uri="{BB962C8B-B14F-4D97-AF65-F5344CB8AC3E}">
        <p14:creationId xmlns:p14="http://schemas.microsoft.com/office/powerpoint/2010/main" val="19264096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90993-51B3-466B-B3AC-2F48E1D1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PUBLISH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2A855-FF5A-4175-BC3A-84E219D8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Authentication and audience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F331C-B8B1-433D-99F5-2F86C655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EA0FD-FD0E-4493-8640-35D9B6C3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85BA6-7EB6-4A30-B237-4CA9715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69F2A-5EC3-4E81-93D7-34CFCE55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channel และผู้ใช้ที่ผู้จัดอบรมอนุญาตเท่านั้น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AD114-FF5F-4971-B36E-AB9F635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B841A-2A77-432E-81FE-528C3F7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8BE8C-FD19-415E-A0E4-B2968824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Creator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53037-3631-4BC5-8351-5D74A64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FD145-6966-4ED6-8232-FC670F1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4097A-E94E-40AF-99F4-116E8C7A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79C7D-E748-42DA-9B18-9D069C47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approved tester and 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6EBD3-9A1D-4728-B666-6EAC6356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BE073-775A-453D-9375-4145E703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29379-19C8-4A4A-A34A-BF686F28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หาก policy ไม่พร้อม ใช้ demo ไม่เปลี่ยนเป็น public/no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556385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25B03-1990-4230-A33B-40160FE8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PUBLISH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33EB-AFAC-45CC-A5CD-81566C3D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Publish and channel availability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14AF5-B87C-42A1-8174-D5F9A29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10E29-11BE-4BC6-A7F9-F23B8B7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0A049-C73D-43B0-8954-1A9435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7F57B-A9AB-44D7-A812-12CCEC0A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Publish เป็นขั้นหนึ่ง; channel อาจยังต้องรอ admin approval หรือสิทธิ์ติดตั้ง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95A06-DDFF-4668-8C4C-B15E709F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85A69-6FBE-4214-903E-4C42EA10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E2F20-9937-4D01-A3EE-5B892E0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Published version and channel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01870-103A-4AAF-80F8-7F556933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14943-023F-48E9-B976-01596483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61188-DB23-44EA-837F-3AB26CD6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5127A-9671-4A2C-A0AE-2E2EE658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52784-6D28-4583-A604-C6B404DE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FDB40-EC0E-4FEE-AA81-8A59BE6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7DDD4-AFEE-47C5-B0D4-5AB438D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ใช้เส้นทางที่ rehearsal แล้ว; ถ้าไม่พร้อมให้ดู instructor demo</a:t>
            </a:r>
          </a:p>
        </p:txBody>
      </p:sp>
    </p:spTree>
    <p:extLst>
      <p:ext uri="{BB962C8B-B14F-4D97-AF65-F5344CB8AC3E}">
        <p14:creationId xmlns:p14="http://schemas.microsoft.com/office/powerpoint/2010/main" val="8038588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A47F8-9930-4FA2-8A15-83C932D5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PUBLISH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D8528-2990-4726-9937-31568299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The published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E9E74-C865-43E7-972F-F080985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443E3-A0FF-4E34-B79D-95EBC25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B2062-1BBD-41E0-BA44-AE141B6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67175-B7E4-4CFB-A93E-BFC7E89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เปิด conversation ใหม่ใน channel จริงและตรวจคำตอบกับ email action สั้น 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FBAD0-D183-4280-B312-15E3A20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3560E-AF0E-47DB-AF56-57378C7E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FD8C5-F504-4ED7-9F0A-9E744A79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เปิดเคาน์เตอร์บริการหลังซ้อมและตรวจสิทธิ์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3F79B-4ED5-4B88-982F-C9596D3C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DDF27-C4A9-46BD-A104-362AC7FC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5C68C-D05D-4177-A770-B261A333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9C3D6-2D29-4772-BCE0-D6F4AC5B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Publish/share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92104-AB37-4516-AC57-AE872D94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BBC22-A8B8-4013-84D9-9287EA0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5C84A-13D0-4546-ABA9-F62DCE9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B1612-25A1-4FF6-B9A1-11DCC150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ทดสอบเฉพาะ channel ที่ผู้จัดเตรียมและอนุญาต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44B0F-CE3D-4A58-AE42-40CEB6C7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10552294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75AE2-AD92-4DE1-8B5A-57B55690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7388A-0C2C-4421-964B-58B51C8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Agent Builder overview and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60F34-CEE5-47FB-A539-01B7728A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85036-2C10-420B-A982-82120AA8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37707-97ED-4FAA-B93B-92F9B5C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79987-DB69-4677-8BB6-03647F97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Agent Builder เหมาะกับการเริ่มผู้ช่วยจาก instructions และ Knowledge แบบรวดเร็ว ส่วน Copilot Studio เหมาะเมื่อจำเป็นต้องควบคุม Topics, typed variables, tools, testing และการจัดการที่ละเอียดขึ้น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20A34-A766-404B-9B04-3B62E66C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7EE69-A53E-45BB-8958-575C15A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3E0F4-E671-42F4-A6D5-943475FE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Two-lane tool-choice map: quick focused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4023D-1BEC-4D83-A934-1D0496E2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402BE-C799-45BC-80CB-0B9B53D6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AD984-0F60-49C0-917A-9E1A6D8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F7440-3B43-447E-AF40-065B056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structured business process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F55A1-2D93-437E-87BB-E89DA1C9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60D0C-DAD7-4318-98E6-19160AB7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4B7D5-D774-41F7-A810-29F25CD6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สาธิตการสร้าง agent ขนาดเล็กจาก instructions/Knowledge หรือใช้ saved result; ไม่สร้าง sample file และไม่ให้ผู้เรียนทำ hands-on</a:t>
            </a:r>
          </a:p>
        </p:txBody>
      </p:sp>
    </p:spTree>
    <p:extLst>
      <p:ext uri="{BB962C8B-B14F-4D97-AF65-F5344CB8AC3E}">
        <p14:creationId xmlns:p14="http://schemas.microsoft.com/office/powerpoint/2010/main" val="11102347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D48FF-0D0F-449A-82AE-68F8E2DA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2  ·  COPILOT STUDIO  /  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9DE9A-5A41-4BBF-B5BE-83BA4D8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Choose the tool and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03617-479F-429D-9DE8-E5AEE5FA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67333-0BE6-4533-BBA9-BFD162B7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C548F-D350-402E-9D78-FDDB1F87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1BA02-1DDA-40AB-BF02-FF2F05DB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446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เลือกเครื่องมือจากความซับซ้อนของ conversation, action, control และ governance ไม่ใช่จากชื่อผลิตภัณฑ์อย่างเดียว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4563A-DB1F-4C31-BC49-E3C7C813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B53CB-9918-469C-8329-B8C7EE57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C1FE2-F396-433D-B752-AD35EA77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55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Front-counter assistant = Copilot Studio; back-office operations runner = Power Automate; ใช้ agent เพื่อสนทนาและ flow เพื่อทำขั้นตอนที่กำหนด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988AB-386C-48E0-A889-6F23DB9D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480D5-8614-4225-8973-26093AB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5E71E-0E8E-4A25-BBDB-29EE42F7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B22AA-1C0B-4738-A33F-52E4D898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Microsoft concept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F301E-569E-4E32-B0B3-417F4FBF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4AF54-1EEE-4B3C-A216-0A297588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DB85E-625A-44FE-9473-E9229C9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5A1F1-AC3C-4DC9-A3D2-FFCD27B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Hands-on checkpoint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7FCA3-B8D4-4849-8885-507F9070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480230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2026-09-16T06:14:05.7680000Z</dcterms:created>
  <dcterms:modified xsi:type="dcterms:W3CDTF">2026-09-16T06:14:05.7680000Z</dcterms:modified>
</coreProperties>
</file>